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Hello everyone. Today I'm presenting Skirmish Arena: a simulator of Hearthstone-style card duels where nobody plays by hand. Two bots fight each other, the engine runs thousands of matches, and we can watch any of them replayed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(0:20-0:50) The goal is to build a complete game engine and use it to answer one question: is the game balanced? Does an aggressive bot beat a defensive one? To answer it, we simulate 1000 matches in a few seconds and read the statistics. The project is also a code kata: strict TDD, clean code, SOLID.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(0:50-1:25) Each champion has 30 hit points; the first to reach zero loses. Setup: each player has a 20-card deck, at most 2 copies of a card, at least 6 class cards. A seeded coin flip decides who starts. The first player draws 3 cards, the second draws 4 and gets The Coin, a free card that gives +1 mana for one turn. Each bot can do one mulligan to swap cards.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(1:25-1:50) A turn has five phases. One: draw a card. Two: the maximum mana goes up by one, up to 10, and unspent mana is lost. Three: the bot plays cards and may use its hero power, which costs 2 mana, once per turn. Four: resolution. The effects apply in the order they were played, then the minions attack. Damage hits armor first, then hit points. Five: end-of-turn effects, then it's the opponent's turn.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(1:50-2:10) Cards have a mana cost and a category: Attack, Defense, Resource or Utility. There are 39 cards. Keywords add depth: Armor absorbs damage, Parry reduces each hit, Poison ignores armor, Freeze takes one mana from the opponent, Evasion cancels the next hit, and Taunt forces enemy minions to attack that minion first. Some cards summon minions, up to 7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(2:10-2:30) There are 5 classes: Mage with big spells, Tank with armor, Swordsman with multi-hit attacks, Assassin with poison and combos, and Cleric with healing. The counters are intentional: poison goes through the Tank's armor, and area attacks sweep small minions. The game ends immediately when a champion reaches 0 HP. After 50 turns, the higher HP wins, then the higher total damage dealt, otherwise it's a draw.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(2:30-3:00) Three bots play the game. Aggressive builds a cheap attack deck and always plays its strongest affordable attack. Defensive plays the same way while it is healthy, but below 15 HP it switches to healing, Taunt and armor. Random plays any legal card: it is our baseline. The two real bots beat Random about 9 times out of 10. Aggressive Mage against Defensive Tank wins 46.7% of 1000 matches, so the game is close to balanced.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(3:00-3:50) How it works inside: four ideas. First, cards are data: a name, a cost and an effect built from small reusable blocks. Frostbolt is simply 'deal 3 damage and freeze'. Adding a card never means editing a big switch: Open/Closed principle. Second, events are the only output. The engine never prints; the console log, the statistics and the JSON export are listeners. Third, bots are pure strategies: they only see a read-only view, so they can't cheat. Fourth, everything random comes from one seed: same command, same match.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(3:50-4:30) The tools. The engine is plain Java 21 with Maven: no Spring, no database, only JUnit 5 and AssertJ for the tests, in Given/When/Then style, no mocks. The visual part is a static web page in HTML, CSS and vanilla JavaScript, with no build step: animated replay, HP chart, sound and music from the Web Audio API, three design themes, English and French switch. The web part has its own test suite run with Node. We also worked with an AI assistant in strict TDD: red test, minimal code, refactor.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(4:30-4:50) A single command simulates 1000 matches and exports the first match plus the statistics. Then I open the web page (web/index.html), drop the files, and press play. Show the replay for about 20 seconds, then the Statistics tab.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(4:50-5:00) To conclude: we have a tested and deterministic game engine, bots with clear strategies, statistics to balance the game, and a visual replay. Next steps could be smarter bots and more cards. 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1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37760"/>
            <a:ext cx="12191695" cy="73152"/>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15600" cy="1280160"/>
          </a:xfrm>
          <a:prstGeom prst="rect">
            <a:avLst/>
          </a:prstGeom>
          <a:noFill/>
        </p:spPr>
        <p:txBody>
          <a:bodyPr wrap="square" anchor="t">
            <a:spAutoFit/>
          </a:bodyPr>
          <a:lstStyle/>
          <a:p>
            <a:pPr algn="l">
              <a:spcAft>
                <a:spcPts val="600"/>
              </a:spcAft>
            </a:pPr>
            <a:r>
              <a:rPr sz="7200" b="1">
                <a:solidFill>
                  <a:srgbClr val="F2B734"/>
                </a:solidFill>
                <a:latin typeface="Segoe UI"/>
              </a:rPr>
              <a:t>SKIRMISH ARENA</a:t>
            </a:r>
          </a:p>
        </p:txBody>
      </p:sp>
      <p:sp>
        <p:nvSpPr>
          <p:cNvPr id="5" name="TextBox 4"/>
          <p:cNvSpPr txBox="1"/>
          <p:nvPr/>
        </p:nvSpPr>
        <p:spPr>
          <a:xfrm>
            <a:off x="822960" y="2834640"/>
            <a:ext cx="10515600" cy="914400"/>
          </a:xfrm>
          <a:prstGeom prst="rect">
            <a:avLst/>
          </a:prstGeom>
          <a:noFill/>
        </p:spPr>
        <p:txBody>
          <a:bodyPr wrap="square" anchor="t">
            <a:spAutoFit/>
          </a:bodyPr>
          <a:lstStyle/>
          <a:p>
            <a:pPr algn="l">
              <a:spcAft>
                <a:spcPts val="600"/>
              </a:spcAft>
            </a:pPr>
            <a:r>
              <a:rPr sz="3400" b="0">
                <a:solidFill>
                  <a:srgbClr val="F4F4FA"/>
                </a:solidFill>
                <a:latin typeface="Segoe UI"/>
              </a:rPr>
              <a:t>Two bots. One card duel. Zero human players.</a:t>
            </a:r>
          </a:p>
        </p:txBody>
      </p:sp>
      <p:sp>
        <p:nvSpPr>
          <p:cNvPr id="6" name="TextBox 5"/>
          <p:cNvSpPr txBox="1"/>
          <p:nvPr/>
        </p:nvSpPr>
        <p:spPr>
          <a:xfrm>
            <a:off x="822960" y="3840480"/>
            <a:ext cx="10515600" cy="548640"/>
          </a:xfrm>
          <a:prstGeom prst="rect">
            <a:avLst/>
          </a:prstGeom>
          <a:noFill/>
        </p:spPr>
        <p:txBody>
          <a:bodyPr wrap="square" anchor="t">
            <a:spAutoFit/>
          </a:bodyPr>
          <a:lstStyle/>
          <a:p>
            <a:pPr algn="l">
              <a:spcAft>
                <a:spcPts val="600"/>
              </a:spcAft>
            </a:pPr>
            <a:r>
              <a:rPr sz="2000" b="0">
                <a:solidFill>
                  <a:srgbClr val="A9AECB"/>
                </a:solidFill>
                <a:latin typeface="Segoe UI"/>
              </a:rPr>
              <a:t>A Hearthstone-style duel simulator in Java 21, with a web replay</a:t>
            </a:r>
          </a:p>
        </p:txBody>
      </p:sp>
      <p:sp>
        <p:nvSpPr>
          <p:cNvPr id="7" name="TextBox 6"/>
          <p:cNvSpPr txBox="1"/>
          <p:nvPr/>
        </p:nvSpPr>
        <p:spPr>
          <a:xfrm>
            <a:off x="822960" y="5303520"/>
            <a:ext cx="10515600" cy="457200"/>
          </a:xfrm>
          <a:prstGeom prst="rect">
            <a:avLst/>
          </a:prstGeom>
          <a:noFill/>
        </p:spPr>
        <p:txBody>
          <a:bodyPr wrap="square" anchor="t">
            <a:spAutoFit/>
          </a:bodyPr>
          <a:lstStyle/>
          <a:p>
            <a:pPr algn="l">
              <a:spcAft>
                <a:spcPts val="600"/>
              </a:spcAft>
            </a:pPr>
            <a:r>
              <a:rPr sz="1800" b="0">
                <a:solidFill>
                  <a:srgbClr val="A9AECB"/>
                </a:solidFill>
                <a:latin typeface="Segoe UI"/>
              </a:rPr>
              <a:t>Code kata  ·  TDD  ·  SOLID  ·  100% vibecoding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The goal</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2</a:t>
            </a:r>
          </a:p>
        </p:txBody>
      </p:sp>
      <p:sp>
        <p:nvSpPr>
          <p:cNvPr id="6" name="Rounded Rectangle 5"/>
          <p:cNvSpPr/>
          <p:nvPr/>
        </p:nvSpPr>
        <p:spPr>
          <a:xfrm>
            <a:off x="731520" y="1737360"/>
            <a:ext cx="3474720" cy="310896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74519"/>
            <a:ext cx="82296" cy="2834640"/>
          </a:xfrm>
          <a:prstGeom prst="rect">
            <a:avLst/>
          </a:prstGeom>
          <a:solidFill>
            <a:srgbClr val="4F9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74519"/>
            <a:ext cx="3017520" cy="548640"/>
          </a:xfrm>
          <a:prstGeom prst="rect">
            <a:avLst/>
          </a:prstGeom>
          <a:noFill/>
        </p:spPr>
        <p:txBody>
          <a:bodyPr wrap="square" anchor="t">
            <a:spAutoFit/>
          </a:bodyPr>
          <a:lstStyle/>
          <a:p>
            <a:pPr algn="l">
              <a:spcAft>
                <a:spcPts val="600"/>
              </a:spcAft>
            </a:pPr>
            <a:r>
              <a:rPr sz="2200" b="1">
                <a:solidFill>
                  <a:srgbClr val="4F9DE8"/>
                </a:solidFill>
                <a:latin typeface="Segoe UI"/>
              </a:rPr>
              <a:t>1. Simulate</a:t>
            </a:r>
          </a:p>
        </p:txBody>
      </p:sp>
      <p:sp>
        <p:nvSpPr>
          <p:cNvPr id="9" name="TextBox 8"/>
          <p:cNvSpPr txBox="1"/>
          <p:nvPr/>
        </p:nvSpPr>
        <p:spPr>
          <a:xfrm>
            <a:off x="1005840" y="2468880"/>
            <a:ext cx="3017520" cy="2286000"/>
          </a:xfrm>
          <a:prstGeom prst="rect">
            <a:avLst/>
          </a:prstGeom>
          <a:noFill/>
        </p:spPr>
        <p:txBody>
          <a:bodyPr wrap="square" anchor="t">
            <a:spAutoFit/>
          </a:bodyPr>
          <a:lstStyle/>
          <a:p>
            <a:pPr algn="l">
              <a:spcAft>
                <a:spcPts val="600"/>
              </a:spcAft>
            </a:pPr>
            <a:r>
              <a:rPr sz="2000" b="0">
                <a:solidFill>
                  <a:srgbClr val="F4F4FA"/>
                </a:solidFill>
                <a:latin typeface="Segoe UI"/>
              </a:rPr>
              <a:t>Two bots play full matches.</a:t>
            </a:r>
          </a:p>
          <a:p>
            <a:pPr algn="l">
              <a:spcAft>
                <a:spcPts val="600"/>
              </a:spcAft>
            </a:pPr>
            <a:r>
              <a:rPr sz="2000" b="0">
                <a:solidFill>
                  <a:srgbClr val="F4F4FA"/>
                </a:solidFill>
                <a:latin typeface="Segoe UI"/>
              </a:rPr>
              <a:t>1000 matches in a few seconds.</a:t>
            </a:r>
          </a:p>
        </p:txBody>
      </p:sp>
      <p:sp>
        <p:nvSpPr>
          <p:cNvPr id="10" name="Rounded Rectangle 9"/>
          <p:cNvSpPr/>
          <p:nvPr/>
        </p:nvSpPr>
        <p:spPr>
          <a:xfrm>
            <a:off x="4343400" y="1737360"/>
            <a:ext cx="3474720" cy="310896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874519"/>
            <a:ext cx="82296" cy="2834640"/>
          </a:xfrm>
          <a:prstGeom prst="rect">
            <a:avLst/>
          </a:prstGeom>
          <a:solidFill>
            <a:srgbClr val="5FC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874519"/>
            <a:ext cx="3017520" cy="548640"/>
          </a:xfrm>
          <a:prstGeom prst="rect">
            <a:avLst/>
          </a:prstGeom>
          <a:noFill/>
        </p:spPr>
        <p:txBody>
          <a:bodyPr wrap="square" anchor="t">
            <a:spAutoFit/>
          </a:bodyPr>
          <a:lstStyle/>
          <a:p>
            <a:pPr algn="l">
              <a:spcAft>
                <a:spcPts val="600"/>
              </a:spcAft>
            </a:pPr>
            <a:r>
              <a:rPr sz="2200" b="1">
                <a:solidFill>
                  <a:srgbClr val="5FC48A"/>
                </a:solidFill>
                <a:latin typeface="Segoe UI"/>
              </a:rPr>
              <a:t>2. Balance</a:t>
            </a:r>
          </a:p>
        </p:txBody>
      </p:sp>
      <p:sp>
        <p:nvSpPr>
          <p:cNvPr id="13" name="TextBox 12"/>
          <p:cNvSpPr txBox="1"/>
          <p:nvPr/>
        </p:nvSpPr>
        <p:spPr>
          <a:xfrm>
            <a:off x="4617720" y="2468880"/>
            <a:ext cx="3017520" cy="2286000"/>
          </a:xfrm>
          <a:prstGeom prst="rect">
            <a:avLst/>
          </a:prstGeom>
          <a:noFill/>
        </p:spPr>
        <p:txBody>
          <a:bodyPr wrap="square" anchor="t">
            <a:spAutoFit/>
          </a:bodyPr>
          <a:lstStyle/>
          <a:p>
            <a:pPr algn="l">
              <a:spcAft>
                <a:spcPts val="600"/>
              </a:spcAft>
            </a:pPr>
            <a:r>
              <a:rPr sz="2000" b="0">
                <a:solidFill>
                  <a:srgbClr val="F4F4FA"/>
                </a:solidFill>
                <a:latin typeface="Segoe UI"/>
              </a:rPr>
              <a:t>Is the game fair?</a:t>
            </a:r>
          </a:p>
          <a:p>
            <a:pPr algn="l">
              <a:spcAft>
                <a:spcPts val="600"/>
              </a:spcAft>
            </a:pPr>
            <a:r>
              <a:rPr sz="2000" b="0">
                <a:solidFill>
                  <a:srgbClr val="F4F4FA"/>
                </a:solidFill>
                <a:latin typeface="Segoe UI"/>
              </a:rPr>
              <a:t>Does Aggressive beat Defensive?</a:t>
            </a:r>
          </a:p>
          <a:p>
            <a:pPr algn="l">
              <a:spcAft>
                <a:spcPts val="600"/>
              </a:spcAft>
            </a:pPr>
            <a:r>
              <a:rPr sz="2000" b="0">
                <a:solidFill>
                  <a:srgbClr val="F4F4FA"/>
                </a:solidFill>
                <a:latin typeface="Segoe UI"/>
              </a:rPr>
              <a:t>Read the statistics.</a:t>
            </a:r>
          </a:p>
        </p:txBody>
      </p:sp>
      <p:sp>
        <p:nvSpPr>
          <p:cNvPr id="14" name="Rounded Rectangle 13"/>
          <p:cNvSpPr/>
          <p:nvPr/>
        </p:nvSpPr>
        <p:spPr>
          <a:xfrm>
            <a:off x="7955279" y="1737360"/>
            <a:ext cx="3474720" cy="310896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1874519"/>
            <a:ext cx="82296" cy="2834640"/>
          </a:xfrm>
          <a:prstGeom prst="rect">
            <a:avLst/>
          </a:prstGeom>
          <a:solidFill>
            <a:srgbClr val="A77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74519"/>
            <a:ext cx="3017520" cy="548640"/>
          </a:xfrm>
          <a:prstGeom prst="rect">
            <a:avLst/>
          </a:prstGeom>
          <a:noFill/>
        </p:spPr>
        <p:txBody>
          <a:bodyPr wrap="square" anchor="t">
            <a:spAutoFit/>
          </a:bodyPr>
          <a:lstStyle/>
          <a:p>
            <a:pPr algn="l">
              <a:spcAft>
                <a:spcPts val="600"/>
              </a:spcAft>
            </a:pPr>
            <a:r>
              <a:rPr sz="2200" b="1">
                <a:solidFill>
                  <a:srgbClr val="A77BE8"/>
                </a:solidFill>
                <a:latin typeface="Segoe UI"/>
              </a:rPr>
              <a:t>3. Replay</a:t>
            </a:r>
          </a:p>
        </p:txBody>
      </p:sp>
      <p:sp>
        <p:nvSpPr>
          <p:cNvPr id="17" name="TextBox 16"/>
          <p:cNvSpPr txBox="1"/>
          <p:nvPr/>
        </p:nvSpPr>
        <p:spPr>
          <a:xfrm>
            <a:off x="8229600" y="2468880"/>
            <a:ext cx="3017520" cy="2286000"/>
          </a:xfrm>
          <a:prstGeom prst="rect">
            <a:avLst/>
          </a:prstGeom>
          <a:noFill/>
        </p:spPr>
        <p:txBody>
          <a:bodyPr wrap="square" anchor="t">
            <a:spAutoFit/>
          </a:bodyPr>
          <a:lstStyle/>
          <a:p>
            <a:pPr algn="l">
              <a:spcAft>
                <a:spcPts val="600"/>
              </a:spcAft>
            </a:pPr>
            <a:r>
              <a:rPr sz="2000" b="0">
                <a:solidFill>
                  <a:srgbClr val="F4F4FA"/>
                </a:solidFill>
                <a:latin typeface="Segoe UI"/>
              </a:rPr>
              <a:t>Watch any match in the browser.</a:t>
            </a:r>
          </a:p>
          <a:p>
            <a:pPr algn="l">
              <a:spcAft>
                <a:spcPts val="600"/>
              </a:spcAft>
            </a:pPr>
            <a:r>
              <a:rPr sz="2000" b="0">
                <a:solidFill>
                  <a:srgbClr val="F4F4FA"/>
                </a:solidFill>
                <a:latin typeface="Segoe UI"/>
              </a:rPr>
              <a:t>Board, log, HP chart, sound.</a:t>
            </a:r>
          </a:p>
        </p:txBody>
      </p:sp>
      <p:sp>
        <p:nvSpPr>
          <p:cNvPr id="18" name="TextBox 17"/>
          <p:cNvSpPr txBox="1"/>
          <p:nvPr/>
        </p:nvSpPr>
        <p:spPr>
          <a:xfrm>
            <a:off x="731520" y="5303520"/>
            <a:ext cx="10698480" cy="548640"/>
          </a:xfrm>
          <a:prstGeom prst="rect">
            <a:avLst/>
          </a:prstGeom>
          <a:noFill/>
        </p:spPr>
        <p:txBody>
          <a:bodyPr wrap="square" anchor="t">
            <a:spAutoFit/>
          </a:bodyPr>
          <a:lstStyle/>
          <a:p>
            <a:pPr algn="l">
              <a:spcAft>
                <a:spcPts val="600"/>
              </a:spcAft>
            </a:pPr>
            <a:r>
              <a:rPr sz="2200" b="1">
                <a:solidFill>
                  <a:srgbClr val="F2B734"/>
                </a:solidFill>
                <a:latin typeface="Segoe UI"/>
              </a:rPr>
              <a:t>Also a code kata: strict TDD, clean code, SOLID.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The rules (1/4): the essentials</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3</a:t>
            </a:r>
          </a:p>
        </p:txBody>
      </p:sp>
      <p:sp>
        <p:nvSpPr>
          <p:cNvPr id="6" name="Rounded Rectangle 5"/>
          <p:cNvSpPr/>
          <p:nvPr/>
        </p:nvSpPr>
        <p:spPr>
          <a:xfrm>
            <a:off x="731520" y="1645920"/>
            <a:ext cx="2057400" cy="2011680"/>
          </a:xfrm>
          <a:prstGeom prst="roundRect">
            <a:avLst>
              <a:gd name="adj" fmla="val 8000"/>
            </a:avLst>
          </a:prstGeom>
          <a:solidFill>
            <a:srgbClr val="222745"/>
          </a:solidFill>
          <a:ln w="25400">
            <a:solidFill>
              <a:srgbClr val="E25D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2057400" cy="914400"/>
          </a:xfrm>
          <a:prstGeom prst="rect">
            <a:avLst/>
          </a:prstGeom>
          <a:noFill/>
        </p:spPr>
        <p:txBody>
          <a:bodyPr wrap="square" anchor="t">
            <a:spAutoFit/>
          </a:bodyPr>
          <a:lstStyle/>
          <a:p>
            <a:pPr algn="ctr">
              <a:spcAft>
                <a:spcPts val="600"/>
              </a:spcAft>
            </a:pPr>
            <a:r>
              <a:rPr sz="5000" b="1">
                <a:solidFill>
                  <a:srgbClr val="E25D5D"/>
                </a:solidFill>
                <a:latin typeface="Segoe UI"/>
              </a:rPr>
              <a:t>30</a:t>
            </a:r>
          </a:p>
        </p:txBody>
      </p:sp>
      <p:sp>
        <p:nvSpPr>
          <p:cNvPr id="8" name="TextBox 7"/>
          <p:cNvSpPr txBox="1"/>
          <p:nvPr/>
        </p:nvSpPr>
        <p:spPr>
          <a:xfrm>
            <a:off x="822960" y="2788920"/>
            <a:ext cx="1874519" cy="822960"/>
          </a:xfrm>
          <a:prstGeom prst="rect">
            <a:avLst/>
          </a:prstGeom>
          <a:noFill/>
        </p:spPr>
        <p:txBody>
          <a:bodyPr wrap="square" anchor="t">
            <a:spAutoFit/>
          </a:bodyPr>
          <a:lstStyle/>
          <a:p>
            <a:pPr algn="ctr">
              <a:spcAft>
                <a:spcPts val="600"/>
              </a:spcAft>
            </a:pPr>
            <a:r>
              <a:rPr sz="1500" b="0">
                <a:solidFill>
                  <a:srgbClr val="F4F4FA"/>
                </a:solidFill>
                <a:latin typeface="Segoe UI"/>
              </a:rPr>
              <a:t>HP per champion</a:t>
            </a:r>
          </a:p>
        </p:txBody>
      </p:sp>
      <p:sp>
        <p:nvSpPr>
          <p:cNvPr id="9" name="Rounded Rectangle 8"/>
          <p:cNvSpPr/>
          <p:nvPr/>
        </p:nvSpPr>
        <p:spPr>
          <a:xfrm>
            <a:off x="2926080" y="1645920"/>
            <a:ext cx="2057400" cy="2011680"/>
          </a:xfrm>
          <a:prstGeom prst="roundRect">
            <a:avLst>
              <a:gd name="adj" fmla="val 8000"/>
            </a:avLst>
          </a:prstGeom>
          <a:solidFill>
            <a:srgbClr val="222745"/>
          </a:solidFill>
          <a:ln w="25400">
            <a:solidFill>
              <a:srgbClr val="4F9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828800"/>
            <a:ext cx="2057400" cy="914400"/>
          </a:xfrm>
          <a:prstGeom prst="rect">
            <a:avLst/>
          </a:prstGeom>
          <a:noFill/>
        </p:spPr>
        <p:txBody>
          <a:bodyPr wrap="square" anchor="t">
            <a:spAutoFit/>
          </a:bodyPr>
          <a:lstStyle/>
          <a:p>
            <a:pPr algn="ctr">
              <a:spcAft>
                <a:spcPts val="600"/>
              </a:spcAft>
            </a:pPr>
            <a:r>
              <a:rPr sz="5000" b="1">
                <a:solidFill>
                  <a:srgbClr val="4F9DE8"/>
                </a:solidFill>
                <a:latin typeface="Segoe UI"/>
              </a:rPr>
              <a:t>20</a:t>
            </a:r>
          </a:p>
        </p:txBody>
      </p:sp>
      <p:sp>
        <p:nvSpPr>
          <p:cNvPr id="11" name="TextBox 10"/>
          <p:cNvSpPr txBox="1"/>
          <p:nvPr/>
        </p:nvSpPr>
        <p:spPr>
          <a:xfrm>
            <a:off x="3017520" y="2788920"/>
            <a:ext cx="1874519" cy="822960"/>
          </a:xfrm>
          <a:prstGeom prst="rect">
            <a:avLst/>
          </a:prstGeom>
          <a:noFill/>
        </p:spPr>
        <p:txBody>
          <a:bodyPr wrap="square" anchor="t">
            <a:spAutoFit/>
          </a:bodyPr>
          <a:lstStyle/>
          <a:p>
            <a:pPr algn="ctr">
              <a:spcAft>
                <a:spcPts val="600"/>
              </a:spcAft>
            </a:pPr>
            <a:r>
              <a:rPr sz="1500" b="0">
                <a:solidFill>
                  <a:srgbClr val="F4F4FA"/>
                </a:solidFill>
                <a:latin typeface="Segoe UI"/>
              </a:rPr>
              <a:t>cards per deck</a:t>
            </a:r>
          </a:p>
        </p:txBody>
      </p:sp>
      <p:sp>
        <p:nvSpPr>
          <p:cNvPr id="12" name="Rounded Rectangle 11"/>
          <p:cNvSpPr/>
          <p:nvPr/>
        </p:nvSpPr>
        <p:spPr>
          <a:xfrm>
            <a:off x="5120640" y="1645920"/>
            <a:ext cx="2057400" cy="2011680"/>
          </a:xfrm>
          <a:prstGeom prst="roundRect">
            <a:avLst>
              <a:gd name="adj" fmla="val 8000"/>
            </a:avLst>
          </a:prstGeom>
          <a:solidFill>
            <a:srgbClr val="222745"/>
          </a:solidFill>
          <a:ln w="25400">
            <a:solidFill>
              <a:srgbClr val="5F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828800"/>
            <a:ext cx="2057400" cy="914400"/>
          </a:xfrm>
          <a:prstGeom prst="rect">
            <a:avLst/>
          </a:prstGeom>
          <a:noFill/>
        </p:spPr>
        <p:txBody>
          <a:bodyPr wrap="square" anchor="t">
            <a:spAutoFit/>
          </a:bodyPr>
          <a:lstStyle/>
          <a:p>
            <a:pPr algn="ctr">
              <a:spcAft>
                <a:spcPts val="600"/>
              </a:spcAft>
            </a:pPr>
            <a:r>
              <a:rPr sz="5000" b="1">
                <a:solidFill>
                  <a:srgbClr val="5FC48A"/>
                </a:solidFill>
                <a:latin typeface="Segoe UI"/>
              </a:rPr>
              <a:t>+1</a:t>
            </a:r>
          </a:p>
        </p:txBody>
      </p:sp>
      <p:sp>
        <p:nvSpPr>
          <p:cNvPr id="14" name="TextBox 13"/>
          <p:cNvSpPr txBox="1"/>
          <p:nvPr/>
        </p:nvSpPr>
        <p:spPr>
          <a:xfrm>
            <a:off x="5212079" y="2788920"/>
            <a:ext cx="1874519" cy="822960"/>
          </a:xfrm>
          <a:prstGeom prst="rect">
            <a:avLst/>
          </a:prstGeom>
          <a:noFill/>
        </p:spPr>
        <p:txBody>
          <a:bodyPr wrap="square" anchor="t">
            <a:spAutoFit/>
          </a:bodyPr>
          <a:lstStyle/>
          <a:p>
            <a:pPr algn="ctr">
              <a:spcAft>
                <a:spcPts val="600"/>
              </a:spcAft>
            </a:pPr>
            <a:r>
              <a:rPr sz="1500" b="0">
                <a:solidFill>
                  <a:srgbClr val="F4F4FA"/>
                </a:solidFill>
                <a:latin typeface="Segoe UI"/>
              </a:rPr>
              <a:t>mana per turn (max 10)</a:t>
            </a:r>
          </a:p>
        </p:txBody>
      </p:sp>
      <p:sp>
        <p:nvSpPr>
          <p:cNvPr id="15" name="Rounded Rectangle 14"/>
          <p:cNvSpPr/>
          <p:nvPr/>
        </p:nvSpPr>
        <p:spPr>
          <a:xfrm>
            <a:off x="7315200" y="1645920"/>
            <a:ext cx="2057400" cy="2011680"/>
          </a:xfrm>
          <a:prstGeom prst="roundRect">
            <a:avLst>
              <a:gd name="adj" fmla="val 8000"/>
            </a:avLst>
          </a:prstGeom>
          <a:solidFill>
            <a:srgbClr val="222745"/>
          </a:solidFill>
          <a:ln w="25400">
            <a:solidFill>
              <a:srgbClr val="A7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1828800"/>
            <a:ext cx="2057400" cy="914400"/>
          </a:xfrm>
          <a:prstGeom prst="rect">
            <a:avLst/>
          </a:prstGeom>
          <a:noFill/>
        </p:spPr>
        <p:txBody>
          <a:bodyPr wrap="square" anchor="t">
            <a:spAutoFit/>
          </a:bodyPr>
          <a:lstStyle/>
          <a:p>
            <a:pPr algn="ctr">
              <a:spcAft>
                <a:spcPts val="600"/>
              </a:spcAft>
            </a:pPr>
            <a:r>
              <a:rPr sz="5000" b="1">
                <a:solidFill>
                  <a:srgbClr val="A77BE8"/>
                </a:solidFill>
                <a:latin typeface="Segoe UI"/>
              </a:rPr>
              <a:t>39</a:t>
            </a:r>
          </a:p>
        </p:txBody>
      </p:sp>
      <p:sp>
        <p:nvSpPr>
          <p:cNvPr id="17" name="TextBox 16"/>
          <p:cNvSpPr txBox="1"/>
          <p:nvPr/>
        </p:nvSpPr>
        <p:spPr>
          <a:xfrm>
            <a:off x="7406640" y="2788920"/>
            <a:ext cx="1874519" cy="822960"/>
          </a:xfrm>
          <a:prstGeom prst="rect">
            <a:avLst/>
          </a:prstGeom>
          <a:noFill/>
        </p:spPr>
        <p:txBody>
          <a:bodyPr wrap="square" anchor="t">
            <a:spAutoFit/>
          </a:bodyPr>
          <a:lstStyle/>
          <a:p>
            <a:pPr algn="ctr">
              <a:spcAft>
                <a:spcPts val="600"/>
              </a:spcAft>
            </a:pPr>
            <a:r>
              <a:rPr sz="1500" b="0">
                <a:solidFill>
                  <a:srgbClr val="F4F4FA"/>
                </a:solidFill>
                <a:latin typeface="Segoe UI"/>
              </a:rPr>
              <a:t>cards (10 neutral, 29 class)</a:t>
            </a:r>
          </a:p>
        </p:txBody>
      </p:sp>
      <p:sp>
        <p:nvSpPr>
          <p:cNvPr id="18" name="Rounded Rectangle 17"/>
          <p:cNvSpPr/>
          <p:nvPr/>
        </p:nvSpPr>
        <p:spPr>
          <a:xfrm>
            <a:off x="9509760" y="1645920"/>
            <a:ext cx="2057400" cy="2011680"/>
          </a:xfrm>
          <a:prstGeom prst="roundRect">
            <a:avLst>
              <a:gd name="adj" fmla="val 8000"/>
            </a:avLst>
          </a:prstGeom>
          <a:solidFill>
            <a:srgbClr val="222745"/>
          </a:solidFill>
          <a:ln w="25400">
            <a:solidFill>
              <a:srgbClr val="F2B7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0" y="1828800"/>
            <a:ext cx="2057400" cy="914400"/>
          </a:xfrm>
          <a:prstGeom prst="rect">
            <a:avLst/>
          </a:prstGeom>
          <a:noFill/>
        </p:spPr>
        <p:txBody>
          <a:bodyPr wrap="square" anchor="t">
            <a:spAutoFit/>
          </a:bodyPr>
          <a:lstStyle/>
          <a:p>
            <a:pPr algn="ctr">
              <a:spcAft>
                <a:spcPts val="600"/>
              </a:spcAft>
            </a:pPr>
            <a:r>
              <a:rPr sz="5000" b="1">
                <a:solidFill>
                  <a:srgbClr val="F2B734"/>
                </a:solidFill>
                <a:latin typeface="Segoe UI"/>
              </a:rPr>
              <a:t>5</a:t>
            </a:r>
          </a:p>
        </p:txBody>
      </p:sp>
      <p:sp>
        <p:nvSpPr>
          <p:cNvPr id="20" name="TextBox 19"/>
          <p:cNvSpPr txBox="1"/>
          <p:nvPr/>
        </p:nvSpPr>
        <p:spPr>
          <a:xfrm>
            <a:off x="9601200" y="2788920"/>
            <a:ext cx="1874519" cy="822960"/>
          </a:xfrm>
          <a:prstGeom prst="rect">
            <a:avLst/>
          </a:prstGeom>
          <a:noFill/>
        </p:spPr>
        <p:txBody>
          <a:bodyPr wrap="square" anchor="t">
            <a:spAutoFit/>
          </a:bodyPr>
          <a:lstStyle/>
          <a:p>
            <a:pPr algn="ctr">
              <a:spcAft>
                <a:spcPts val="600"/>
              </a:spcAft>
            </a:pPr>
            <a:r>
              <a:rPr sz="1500" b="0">
                <a:solidFill>
                  <a:srgbClr val="F4F4FA"/>
                </a:solidFill>
                <a:latin typeface="Segoe UI"/>
              </a:rPr>
              <a:t>hero classes</a:t>
            </a:r>
          </a:p>
        </p:txBody>
      </p:sp>
      <p:sp>
        <p:nvSpPr>
          <p:cNvPr id="21" name="TextBox 20"/>
          <p:cNvSpPr txBox="1"/>
          <p:nvPr/>
        </p:nvSpPr>
        <p:spPr>
          <a:xfrm>
            <a:off x="731520" y="4023360"/>
            <a:ext cx="10789920" cy="2286000"/>
          </a:xfrm>
          <a:prstGeom prst="rect">
            <a:avLst/>
          </a:prstGeom>
          <a:noFill/>
        </p:spPr>
        <p:txBody>
          <a:bodyPr wrap="square" anchor="t">
            <a:spAutoFit/>
          </a:bodyPr>
          <a:lstStyle/>
          <a:p>
            <a:pPr algn="l">
              <a:spcAft>
                <a:spcPts val="600"/>
              </a:spcAft>
            </a:pPr>
            <a:r>
              <a:rPr sz="2000" b="0">
                <a:solidFill>
                  <a:srgbClr val="F4F4FA"/>
                </a:solidFill>
                <a:latin typeface="Segoe UI"/>
              </a:rPr>
              <a:t>•  First champion to reach 0 HP loses.</a:t>
            </a:r>
          </a:p>
          <a:p>
            <a:pPr algn="l">
              <a:spcAft>
                <a:spcPts val="600"/>
              </a:spcAft>
            </a:pPr>
            <a:r>
              <a:rPr sz="2000" b="0">
                <a:solidFill>
                  <a:srgbClr val="F4F4FA"/>
                </a:solidFill>
                <a:latin typeface="Segoe UI"/>
              </a:rPr>
              <a:t>•  Deck: 20 cards, max 2 copies, at least 6 class cards.</a:t>
            </a:r>
          </a:p>
          <a:p>
            <a:pPr algn="l">
              <a:spcAft>
                <a:spcPts val="600"/>
              </a:spcAft>
            </a:pPr>
            <a:r>
              <a:rPr sz="2000" b="0">
                <a:solidFill>
                  <a:srgbClr val="F4F4FA"/>
                </a:solidFill>
                <a:latin typeface="Segoe UI"/>
              </a:rPr>
              <a:t>•  Seeded coin flip: the first player draws 3 cards, the second draws 4 and gets The Coin (+1 mana, one turn).</a:t>
            </a:r>
          </a:p>
          <a:p>
            <a:pPr algn="l">
              <a:spcAft>
                <a:spcPts val="600"/>
              </a:spcAft>
            </a:pPr>
            <a:r>
              <a:rPr sz="2000" b="0">
                <a:solidFill>
                  <a:srgbClr val="F4F4FA"/>
                </a:solidFill>
                <a:latin typeface="Segoe UI"/>
              </a:rPr>
              <a:t>•  One mulligan per bot to swap starting cards.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The rules (2/4): a turn in 5 phases</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4</a:t>
            </a:r>
          </a:p>
        </p:txBody>
      </p:sp>
      <p:sp>
        <p:nvSpPr>
          <p:cNvPr id="6" name="Rounded Rectangle 5"/>
          <p:cNvSpPr/>
          <p:nvPr/>
        </p:nvSpPr>
        <p:spPr>
          <a:xfrm>
            <a:off x="640080" y="1828800"/>
            <a:ext cx="2103120" cy="3017520"/>
          </a:xfrm>
          <a:prstGeom prst="roundRect">
            <a:avLst>
              <a:gd name="adj" fmla="val 8000"/>
            </a:avLst>
          </a:prstGeom>
          <a:solidFill>
            <a:srgbClr val="222745"/>
          </a:solidFill>
          <a:ln w="25400">
            <a:solidFill>
              <a:srgbClr val="4F9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2103120" cy="822960"/>
          </a:xfrm>
          <a:prstGeom prst="rect">
            <a:avLst/>
          </a:prstGeom>
          <a:noFill/>
        </p:spPr>
        <p:txBody>
          <a:bodyPr wrap="square" anchor="t">
            <a:spAutoFit/>
          </a:bodyPr>
          <a:lstStyle/>
          <a:p>
            <a:pPr algn="ctr">
              <a:spcAft>
                <a:spcPts val="600"/>
              </a:spcAft>
            </a:pPr>
            <a:r>
              <a:rPr sz="4400" b="1">
                <a:solidFill>
                  <a:srgbClr val="4F9DE8"/>
                </a:solidFill>
                <a:latin typeface="Segoe UI"/>
              </a:rPr>
              <a:t>1</a:t>
            </a:r>
          </a:p>
        </p:txBody>
      </p:sp>
      <p:sp>
        <p:nvSpPr>
          <p:cNvPr id="8" name="TextBox 7"/>
          <p:cNvSpPr txBox="1"/>
          <p:nvPr/>
        </p:nvSpPr>
        <p:spPr>
          <a:xfrm>
            <a:off x="640080" y="2743200"/>
            <a:ext cx="2103120" cy="548640"/>
          </a:xfrm>
          <a:prstGeom prst="rect">
            <a:avLst/>
          </a:prstGeom>
          <a:noFill/>
        </p:spPr>
        <p:txBody>
          <a:bodyPr wrap="square" anchor="t">
            <a:spAutoFit/>
          </a:bodyPr>
          <a:lstStyle/>
          <a:p>
            <a:pPr algn="ctr">
              <a:spcAft>
                <a:spcPts val="600"/>
              </a:spcAft>
            </a:pPr>
            <a:r>
              <a:rPr sz="2400" b="1">
                <a:solidFill>
                  <a:srgbClr val="F4F4FA"/>
                </a:solidFill>
                <a:latin typeface="Segoe UI"/>
              </a:rPr>
              <a:t>Draw</a:t>
            </a:r>
          </a:p>
        </p:txBody>
      </p:sp>
      <p:sp>
        <p:nvSpPr>
          <p:cNvPr id="9" name="TextBox 8"/>
          <p:cNvSpPr txBox="1"/>
          <p:nvPr/>
        </p:nvSpPr>
        <p:spPr>
          <a:xfrm>
            <a:off x="777240" y="3337560"/>
            <a:ext cx="1828800" cy="1463040"/>
          </a:xfrm>
          <a:prstGeom prst="rect">
            <a:avLst/>
          </a:prstGeom>
          <a:noFill/>
        </p:spPr>
        <p:txBody>
          <a:bodyPr wrap="square" anchor="t">
            <a:spAutoFit/>
          </a:bodyPr>
          <a:lstStyle/>
          <a:p>
            <a:pPr algn="ctr">
              <a:spcAft>
                <a:spcPts val="600"/>
              </a:spcAft>
            </a:pPr>
            <a:r>
              <a:rPr sz="1500" b="0">
                <a:solidFill>
                  <a:srgbClr val="A9AECB"/>
                </a:solidFill>
                <a:latin typeface="Segoe UI"/>
              </a:rPr>
              <a:t>Draw a card</a:t>
            </a:r>
          </a:p>
        </p:txBody>
      </p:sp>
      <p:sp>
        <p:nvSpPr>
          <p:cNvPr id="10" name="Rounded Rectangle 9"/>
          <p:cNvSpPr/>
          <p:nvPr/>
        </p:nvSpPr>
        <p:spPr>
          <a:xfrm>
            <a:off x="2926080" y="1828800"/>
            <a:ext cx="2103120" cy="3017520"/>
          </a:xfrm>
          <a:prstGeom prst="roundRect">
            <a:avLst>
              <a:gd name="adj" fmla="val 8000"/>
            </a:avLst>
          </a:prstGeom>
          <a:solidFill>
            <a:srgbClr val="222745"/>
          </a:solidFill>
          <a:ln w="25400">
            <a:solidFill>
              <a:srgbClr val="5F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920240"/>
            <a:ext cx="2103120" cy="822960"/>
          </a:xfrm>
          <a:prstGeom prst="rect">
            <a:avLst/>
          </a:prstGeom>
          <a:noFill/>
        </p:spPr>
        <p:txBody>
          <a:bodyPr wrap="square" anchor="t">
            <a:spAutoFit/>
          </a:bodyPr>
          <a:lstStyle/>
          <a:p>
            <a:pPr algn="ctr">
              <a:spcAft>
                <a:spcPts val="600"/>
              </a:spcAft>
            </a:pPr>
            <a:r>
              <a:rPr sz="4400" b="1">
                <a:solidFill>
                  <a:srgbClr val="5FC48A"/>
                </a:solidFill>
                <a:latin typeface="Segoe UI"/>
              </a:rPr>
              <a:t>2</a:t>
            </a:r>
          </a:p>
        </p:txBody>
      </p:sp>
      <p:sp>
        <p:nvSpPr>
          <p:cNvPr id="12" name="TextBox 11"/>
          <p:cNvSpPr txBox="1"/>
          <p:nvPr/>
        </p:nvSpPr>
        <p:spPr>
          <a:xfrm>
            <a:off x="2926080" y="2743200"/>
            <a:ext cx="2103120" cy="548640"/>
          </a:xfrm>
          <a:prstGeom prst="rect">
            <a:avLst/>
          </a:prstGeom>
          <a:noFill/>
        </p:spPr>
        <p:txBody>
          <a:bodyPr wrap="square" anchor="t">
            <a:spAutoFit/>
          </a:bodyPr>
          <a:lstStyle/>
          <a:p>
            <a:pPr algn="ctr">
              <a:spcAft>
                <a:spcPts val="600"/>
              </a:spcAft>
            </a:pPr>
            <a:r>
              <a:rPr sz="2400" b="1">
                <a:solidFill>
                  <a:srgbClr val="F4F4FA"/>
                </a:solidFill>
                <a:latin typeface="Segoe UI"/>
              </a:rPr>
              <a:t>Mana</a:t>
            </a:r>
          </a:p>
        </p:txBody>
      </p:sp>
      <p:sp>
        <p:nvSpPr>
          <p:cNvPr id="13" name="TextBox 12"/>
          <p:cNvSpPr txBox="1"/>
          <p:nvPr/>
        </p:nvSpPr>
        <p:spPr>
          <a:xfrm>
            <a:off x="3063240" y="3337560"/>
            <a:ext cx="1828800" cy="1463040"/>
          </a:xfrm>
          <a:prstGeom prst="rect">
            <a:avLst/>
          </a:prstGeom>
          <a:noFill/>
        </p:spPr>
        <p:txBody>
          <a:bodyPr wrap="square" anchor="t">
            <a:spAutoFit/>
          </a:bodyPr>
          <a:lstStyle/>
          <a:p>
            <a:pPr algn="ctr">
              <a:spcAft>
                <a:spcPts val="600"/>
              </a:spcAft>
            </a:pPr>
            <a:r>
              <a:rPr sz="1500" b="0">
                <a:solidFill>
                  <a:srgbClr val="A9AECB"/>
                </a:solidFill>
                <a:latin typeface="Segoe UI"/>
              </a:rPr>
              <a:t>Max mana +1 (cap 10). Unspent mana is lost</a:t>
            </a:r>
          </a:p>
        </p:txBody>
      </p:sp>
      <p:sp>
        <p:nvSpPr>
          <p:cNvPr id="14" name="Rounded Rectangle 13"/>
          <p:cNvSpPr/>
          <p:nvPr/>
        </p:nvSpPr>
        <p:spPr>
          <a:xfrm>
            <a:off x="5212080" y="1828800"/>
            <a:ext cx="2103120" cy="3017520"/>
          </a:xfrm>
          <a:prstGeom prst="roundRect">
            <a:avLst>
              <a:gd name="adj" fmla="val 8000"/>
            </a:avLst>
          </a:prstGeom>
          <a:solidFill>
            <a:srgbClr val="222745"/>
          </a:solidFill>
          <a:ln w="25400">
            <a:solidFill>
              <a:srgbClr val="F2B7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1920240"/>
            <a:ext cx="2103120" cy="822960"/>
          </a:xfrm>
          <a:prstGeom prst="rect">
            <a:avLst/>
          </a:prstGeom>
          <a:noFill/>
        </p:spPr>
        <p:txBody>
          <a:bodyPr wrap="square" anchor="t">
            <a:spAutoFit/>
          </a:bodyPr>
          <a:lstStyle/>
          <a:p>
            <a:pPr algn="ctr">
              <a:spcAft>
                <a:spcPts val="600"/>
              </a:spcAft>
            </a:pPr>
            <a:r>
              <a:rPr sz="4400" b="1">
                <a:solidFill>
                  <a:srgbClr val="F2B734"/>
                </a:solidFill>
                <a:latin typeface="Segoe UI"/>
              </a:rPr>
              <a:t>3</a:t>
            </a:r>
          </a:p>
        </p:txBody>
      </p:sp>
      <p:sp>
        <p:nvSpPr>
          <p:cNvPr id="16" name="TextBox 15"/>
          <p:cNvSpPr txBox="1"/>
          <p:nvPr/>
        </p:nvSpPr>
        <p:spPr>
          <a:xfrm>
            <a:off x="5212080" y="2743200"/>
            <a:ext cx="2103120" cy="548640"/>
          </a:xfrm>
          <a:prstGeom prst="rect">
            <a:avLst/>
          </a:prstGeom>
          <a:noFill/>
        </p:spPr>
        <p:txBody>
          <a:bodyPr wrap="square" anchor="t">
            <a:spAutoFit/>
          </a:bodyPr>
          <a:lstStyle/>
          <a:p>
            <a:pPr algn="ctr">
              <a:spcAft>
                <a:spcPts val="600"/>
              </a:spcAft>
            </a:pPr>
            <a:r>
              <a:rPr sz="2400" b="1">
                <a:solidFill>
                  <a:srgbClr val="F4F4FA"/>
                </a:solidFill>
                <a:latin typeface="Segoe UI"/>
              </a:rPr>
              <a:t>Play</a:t>
            </a:r>
          </a:p>
        </p:txBody>
      </p:sp>
      <p:sp>
        <p:nvSpPr>
          <p:cNvPr id="17" name="TextBox 16"/>
          <p:cNvSpPr txBox="1"/>
          <p:nvPr/>
        </p:nvSpPr>
        <p:spPr>
          <a:xfrm>
            <a:off x="5349240" y="3337560"/>
            <a:ext cx="1828800" cy="1463040"/>
          </a:xfrm>
          <a:prstGeom prst="rect">
            <a:avLst/>
          </a:prstGeom>
          <a:noFill/>
        </p:spPr>
        <p:txBody>
          <a:bodyPr wrap="square" anchor="t">
            <a:spAutoFit/>
          </a:bodyPr>
          <a:lstStyle/>
          <a:p>
            <a:pPr algn="ctr">
              <a:spcAft>
                <a:spcPts val="600"/>
              </a:spcAft>
            </a:pPr>
            <a:r>
              <a:rPr sz="1500" b="0">
                <a:solidFill>
                  <a:srgbClr val="A9AECB"/>
                </a:solidFill>
                <a:latin typeface="Segoe UI"/>
              </a:rPr>
              <a:t>Play cards, hero power (2 mana, once)</a:t>
            </a:r>
          </a:p>
        </p:txBody>
      </p:sp>
      <p:sp>
        <p:nvSpPr>
          <p:cNvPr id="18" name="Rounded Rectangle 17"/>
          <p:cNvSpPr/>
          <p:nvPr/>
        </p:nvSpPr>
        <p:spPr>
          <a:xfrm>
            <a:off x="7498079" y="1828800"/>
            <a:ext cx="2103120" cy="3017520"/>
          </a:xfrm>
          <a:prstGeom prst="roundRect">
            <a:avLst>
              <a:gd name="adj" fmla="val 8000"/>
            </a:avLst>
          </a:prstGeom>
          <a:solidFill>
            <a:srgbClr val="222745"/>
          </a:solidFill>
          <a:ln w="25400">
            <a:solidFill>
              <a:srgbClr val="E25D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79" y="1920240"/>
            <a:ext cx="2103120" cy="822960"/>
          </a:xfrm>
          <a:prstGeom prst="rect">
            <a:avLst/>
          </a:prstGeom>
          <a:noFill/>
        </p:spPr>
        <p:txBody>
          <a:bodyPr wrap="square" anchor="t">
            <a:spAutoFit/>
          </a:bodyPr>
          <a:lstStyle/>
          <a:p>
            <a:pPr algn="ctr">
              <a:spcAft>
                <a:spcPts val="600"/>
              </a:spcAft>
            </a:pPr>
            <a:r>
              <a:rPr sz="4400" b="1">
                <a:solidFill>
                  <a:srgbClr val="E25D5D"/>
                </a:solidFill>
                <a:latin typeface="Segoe UI"/>
              </a:rPr>
              <a:t>4</a:t>
            </a:r>
          </a:p>
        </p:txBody>
      </p:sp>
      <p:sp>
        <p:nvSpPr>
          <p:cNvPr id="20" name="TextBox 19"/>
          <p:cNvSpPr txBox="1"/>
          <p:nvPr/>
        </p:nvSpPr>
        <p:spPr>
          <a:xfrm>
            <a:off x="7498079" y="2743200"/>
            <a:ext cx="2103120" cy="548640"/>
          </a:xfrm>
          <a:prstGeom prst="rect">
            <a:avLst/>
          </a:prstGeom>
          <a:noFill/>
        </p:spPr>
        <p:txBody>
          <a:bodyPr wrap="square" anchor="t">
            <a:spAutoFit/>
          </a:bodyPr>
          <a:lstStyle/>
          <a:p>
            <a:pPr algn="ctr">
              <a:spcAft>
                <a:spcPts val="600"/>
              </a:spcAft>
            </a:pPr>
            <a:r>
              <a:rPr sz="2400" b="1">
                <a:solidFill>
                  <a:srgbClr val="F4F4FA"/>
                </a:solidFill>
                <a:latin typeface="Segoe UI"/>
              </a:rPr>
              <a:t>Resolve</a:t>
            </a:r>
          </a:p>
        </p:txBody>
      </p:sp>
      <p:sp>
        <p:nvSpPr>
          <p:cNvPr id="21" name="TextBox 20"/>
          <p:cNvSpPr txBox="1"/>
          <p:nvPr/>
        </p:nvSpPr>
        <p:spPr>
          <a:xfrm>
            <a:off x="7635240" y="3337560"/>
            <a:ext cx="1828800" cy="1463040"/>
          </a:xfrm>
          <a:prstGeom prst="rect">
            <a:avLst/>
          </a:prstGeom>
          <a:noFill/>
        </p:spPr>
        <p:txBody>
          <a:bodyPr wrap="square" anchor="t">
            <a:spAutoFit/>
          </a:bodyPr>
          <a:lstStyle/>
          <a:p>
            <a:pPr algn="ctr">
              <a:spcAft>
                <a:spcPts val="600"/>
              </a:spcAft>
            </a:pPr>
            <a:r>
              <a:rPr sz="1500" b="0">
                <a:solidFill>
                  <a:srgbClr val="A9AECB"/>
                </a:solidFill>
                <a:latin typeface="Segoe UI"/>
              </a:rPr>
              <a:t>Effects in play order, then minions attack</a:t>
            </a:r>
          </a:p>
        </p:txBody>
      </p:sp>
      <p:sp>
        <p:nvSpPr>
          <p:cNvPr id="22" name="Rounded Rectangle 21"/>
          <p:cNvSpPr/>
          <p:nvPr/>
        </p:nvSpPr>
        <p:spPr>
          <a:xfrm>
            <a:off x="9784080" y="1828800"/>
            <a:ext cx="2103120" cy="3017520"/>
          </a:xfrm>
          <a:prstGeom prst="roundRect">
            <a:avLst>
              <a:gd name="adj" fmla="val 8000"/>
            </a:avLst>
          </a:prstGeom>
          <a:solidFill>
            <a:srgbClr val="222745"/>
          </a:solidFill>
          <a:ln w="25400">
            <a:solidFill>
              <a:srgbClr val="A7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1920240"/>
            <a:ext cx="2103120" cy="822960"/>
          </a:xfrm>
          <a:prstGeom prst="rect">
            <a:avLst/>
          </a:prstGeom>
          <a:noFill/>
        </p:spPr>
        <p:txBody>
          <a:bodyPr wrap="square" anchor="t">
            <a:spAutoFit/>
          </a:bodyPr>
          <a:lstStyle/>
          <a:p>
            <a:pPr algn="ctr">
              <a:spcAft>
                <a:spcPts val="600"/>
              </a:spcAft>
            </a:pPr>
            <a:r>
              <a:rPr sz="4400" b="1">
                <a:solidFill>
                  <a:srgbClr val="A77BE8"/>
                </a:solidFill>
                <a:latin typeface="Segoe UI"/>
              </a:rPr>
              <a:t>5</a:t>
            </a:r>
          </a:p>
        </p:txBody>
      </p:sp>
      <p:sp>
        <p:nvSpPr>
          <p:cNvPr id="24" name="TextBox 23"/>
          <p:cNvSpPr txBox="1"/>
          <p:nvPr/>
        </p:nvSpPr>
        <p:spPr>
          <a:xfrm>
            <a:off x="9784080" y="2743200"/>
            <a:ext cx="2103120" cy="548640"/>
          </a:xfrm>
          <a:prstGeom prst="rect">
            <a:avLst/>
          </a:prstGeom>
          <a:noFill/>
        </p:spPr>
        <p:txBody>
          <a:bodyPr wrap="square" anchor="t">
            <a:spAutoFit/>
          </a:bodyPr>
          <a:lstStyle/>
          <a:p>
            <a:pPr algn="ctr">
              <a:spcAft>
                <a:spcPts val="600"/>
              </a:spcAft>
            </a:pPr>
            <a:r>
              <a:rPr sz="2400" b="1">
                <a:solidFill>
                  <a:srgbClr val="F4F4FA"/>
                </a:solidFill>
                <a:latin typeface="Segoe UI"/>
              </a:rPr>
              <a:t>End</a:t>
            </a:r>
          </a:p>
        </p:txBody>
      </p:sp>
      <p:sp>
        <p:nvSpPr>
          <p:cNvPr id="25" name="TextBox 24"/>
          <p:cNvSpPr txBox="1"/>
          <p:nvPr/>
        </p:nvSpPr>
        <p:spPr>
          <a:xfrm>
            <a:off x="9921240" y="3337560"/>
            <a:ext cx="1828800" cy="1463040"/>
          </a:xfrm>
          <a:prstGeom prst="rect">
            <a:avLst/>
          </a:prstGeom>
          <a:noFill/>
        </p:spPr>
        <p:txBody>
          <a:bodyPr wrap="square" anchor="t">
            <a:spAutoFit/>
          </a:bodyPr>
          <a:lstStyle/>
          <a:p>
            <a:pPr algn="ctr">
              <a:spcAft>
                <a:spcPts val="600"/>
              </a:spcAft>
            </a:pPr>
            <a:r>
              <a:rPr sz="1500" b="0">
                <a:solidFill>
                  <a:srgbClr val="A9AECB"/>
                </a:solidFill>
                <a:latin typeface="Segoe UI"/>
              </a:rPr>
              <a:t>End-of-turn effects, then opponent</a:t>
            </a:r>
          </a:p>
        </p:txBody>
      </p:sp>
      <p:sp>
        <p:nvSpPr>
          <p:cNvPr id="26" name="TextBox 25"/>
          <p:cNvSpPr txBox="1"/>
          <p:nvPr/>
        </p:nvSpPr>
        <p:spPr>
          <a:xfrm>
            <a:off x="731520" y="5303520"/>
            <a:ext cx="10789920" cy="548640"/>
          </a:xfrm>
          <a:prstGeom prst="rect">
            <a:avLst/>
          </a:prstGeom>
          <a:noFill/>
        </p:spPr>
        <p:txBody>
          <a:bodyPr wrap="square" anchor="t">
            <a:spAutoFit/>
          </a:bodyPr>
          <a:lstStyle/>
          <a:p>
            <a:pPr algn="l">
              <a:spcAft>
                <a:spcPts val="600"/>
              </a:spcAft>
            </a:pPr>
            <a:r>
              <a:rPr sz="2200" b="1">
                <a:solidFill>
                  <a:srgbClr val="F2B734"/>
                </a:solidFill>
                <a:latin typeface="Segoe UI"/>
              </a:rPr>
              <a:t>Damage always hits armor first, then hit points.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The rules (3/4): cards and keywords</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5</a:t>
            </a:r>
          </a:p>
        </p:txBody>
      </p:sp>
      <p:sp>
        <p:nvSpPr>
          <p:cNvPr id="6" name="TextBox 5"/>
          <p:cNvSpPr txBox="1"/>
          <p:nvPr/>
        </p:nvSpPr>
        <p:spPr>
          <a:xfrm>
            <a:off x="731520" y="1554480"/>
            <a:ext cx="3657600" cy="457200"/>
          </a:xfrm>
          <a:prstGeom prst="rect">
            <a:avLst/>
          </a:prstGeom>
          <a:noFill/>
        </p:spPr>
        <p:txBody>
          <a:bodyPr wrap="square" anchor="t">
            <a:spAutoFit/>
          </a:bodyPr>
          <a:lstStyle/>
          <a:p>
            <a:pPr algn="l">
              <a:spcAft>
                <a:spcPts val="600"/>
              </a:spcAft>
            </a:pPr>
            <a:r>
              <a:rPr sz="2200" b="1">
                <a:solidFill>
                  <a:srgbClr val="F2B734"/>
                </a:solidFill>
                <a:latin typeface="Segoe UI"/>
              </a:rPr>
              <a:t>4 card categories</a:t>
            </a:r>
          </a:p>
        </p:txBody>
      </p:sp>
      <p:sp>
        <p:nvSpPr>
          <p:cNvPr id="7" name="TextBox 6"/>
          <p:cNvSpPr txBox="1"/>
          <p:nvPr/>
        </p:nvSpPr>
        <p:spPr>
          <a:xfrm>
            <a:off x="731520" y="2103120"/>
            <a:ext cx="3657600" cy="2194560"/>
          </a:xfrm>
          <a:prstGeom prst="rect">
            <a:avLst/>
          </a:prstGeom>
          <a:noFill/>
        </p:spPr>
        <p:txBody>
          <a:bodyPr wrap="square" anchor="t">
            <a:spAutoFit/>
          </a:bodyPr>
          <a:lstStyle/>
          <a:p>
            <a:pPr algn="l">
              <a:spcAft>
                <a:spcPts val="600"/>
              </a:spcAft>
            </a:pPr>
            <a:r>
              <a:rPr sz="2200" b="0">
                <a:solidFill>
                  <a:srgbClr val="F4F4FA"/>
                </a:solidFill>
                <a:latin typeface="Segoe UI"/>
              </a:rPr>
              <a:t>•  Attack</a:t>
            </a:r>
          </a:p>
          <a:p>
            <a:pPr algn="l">
              <a:spcAft>
                <a:spcPts val="600"/>
              </a:spcAft>
            </a:pPr>
            <a:r>
              <a:rPr sz="2200" b="0">
                <a:solidFill>
                  <a:srgbClr val="F4F4FA"/>
                </a:solidFill>
                <a:latin typeface="Segoe UI"/>
              </a:rPr>
              <a:t>•  Defense</a:t>
            </a:r>
          </a:p>
          <a:p>
            <a:pPr algn="l">
              <a:spcAft>
                <a:spcPts val="600"/>
              </a:spcAft>
            </a:pPr>
            <a:r>
              <a:rPr sz="2200" b="0">
                <a:solidFill>
                  <a:srgbClr val="F4F4FA"/>
                </a:solidFill>
                <a:latin typeface="Segoe UI"/>
              </a:rPr>
              <a:t>•  Resource</a:t>
            </a:r>
          </a:p>
          <a:p>
            <a:pPr algn="l">
              <a:spcAft>
                <a:spcPts val="600"/>
              </a:spcAft>
            </a:pPr>
            <a:r>
              <a:rPr sz="2200" b="0">
                <a:solidFill>
                  <a:srgbClr val="F4F4FA"/>
                </a:solidFill>
                <a:latin typeface="Segoe UI"/>
              </a:rPr>
              <a:t>•  Utility</a:t>
            </a:r>
          </a:p>
        </p:txBody>
      </p:sp>
      <p:sp>
        <p:nvSpPr>
          <p:cNvPr id="8" name="TextBox 7"/>
          <p:cNvSpPr txBox="1"/>
          <p:nvPr/>
        </p:nvSpPr>
        <p:spPr>
          <a:xfrm>
            <a:off x="731520" y="3931920"/>
            <a:ext cx="3931920" cy="1828800"/>
          </a:xfrm>
          <a:prstGeom prst="rect">
            <a:avLst/>
          </a:prstGeom>
          <a:noFill/>
        </p:spPr>
        <p:txBody>
          <a:bodyPr wrap="square" anchor="t">
            <a:spAutoFit/>
          </a:bodyPr>
          <a:lstStyle/>
          <a:p>
            <a:pPr algn="l">
              <a:spcAft>
                <a:spcPts val="600"/>
              </a:spcAft>
            </a:pPr>
            <a:r>
              <a:rPr sz="1700" b="0">
                <a:solidFill>
                  <a:srgbClr val="A9AECB"/>
                </a:solidFill>
                <a:latin typeface="Segoe UI"/>
              </a:rPr>
              <a:t>Some cards summon minions.</a:t>
            </a:r>
          </a:p>
          <a:p>
            <a:pPr algn="l">
              <a:spcAft>
                <a:spcPts val="600"/>
              </a:spcAft>
            </a:pPr>
            <a:r>
              <a:rPr sz="1700" b="0">
                <a:solidFill>
                  <a:srgbClr val="A9AECB"/>
                </a:solidFill>
                <a:latin typeface="Segoe UI"/>
              </a:rPr>
              <a:t>Board limit: 7 minions.</a:t>
            </a:r>
          </a:p>
          <a:p>
            <a:pPr algn="l">
              <a:spcAft>
                <a:spcPts val="600"/>
              </a:spcAft>
            </a:pPr>
            <a:r>
              <a:rPr sz="1700" b="0">
                <a:solidFill>
                  <a:srgbClr val="A9AECB"/>
                </a:solidFill>
                <a:latin typeface="Segoe UI"/>
              </a:rPr>
              <a:t>Cards never target minions.</a:t>
            </a:r>
          </a:p>
        </p:txBody>
      </p:sp>
      <p:sp>
        <p:nvSpPr>
          <p:cNvPr id="9" name="Rounded Rectangle 8"/>
          <p:cNvSpPr/>
          <p:nvPr/>
        </p:nvSpPr>
        <p:spPr>
          <a:xfrm>
            <a:off x="4937760" y="1554480"/>
            <a:ext cx="3291840" cy="1280160"/>
          </a:xfrm>
          <a:prstGeom prst="roundRect">
            <a:avLst>
              <a:gd name="adj" fmla="val 8000"/>
            </a:avLst>
          </a:prstGeom>
          <a:solidFill>
            <a:srgbClr val="222745"/>
          </a:solidFill>
          <a:ln w="25400">
            <a:solidFill>
              <a:srgbClr val="4F9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664207"/>
            <a:ext cx="2926080" cy="457200"/>
          </a:xfrm>
          <a:prstGeom prst="rect">
            <a:avLst/>
          </a:prstGeom>
          <a:noFill/>
        </p:spPr>
        <p:txBody>
          <a:bodyPr wrap="square" anchor="t">
            <a:spAutoFit/>
          </a:bodyPr>
          <a:lstStyle/>
          <a:p>
            <a:pPr algn="l">
              <a:spcAft>
                <a:spcPts val="600"/>
              </a:spcAft>
            </a:pPr>
            <a:r>
              <a:rPr sz="2200" b="1">
                <a:solidFill>
                  <a:srgbClr val="4F9DE8"/>
                </a:solidFill>
                <a:latin typeface="Segoe UI"/>
              </a:rPr>
              <a:t>Armor</a:t>
            </a:r>
          </a:p>
        </p:txBody>
      </p:sp>
      <p:sp>
        <p:nvSpPr>
          <p:cNvPr id="11" name="TextBox 10"/>
          <p:cNvSpPr txBox="1"/>
          <p:nvPr/>
        </p:nvSpPr>
        <p:spPr>
          <a:xfrm>
            <a:off x="5120640" y="2212848"/>
            <a:ext cx="2926080" cy="548640"/>
          </a:xfrm>
          <a:prstGeom prst="rect">
            <a:avLst/>
          </a:prstGeom>
          <a:noFill/>
        </p:spPr>
        <p:txBody>
          <a:bodyPr wrap="square" anchor="t">
            <a:spAutoFit/>
          </a:bodyPr>
          <a:lstStyle/>
          <a:p>
            <a:pPr algn="l">
              <a:spcAft>
                <a:spcPts val="600"/>
              </a:spcAft>
            </a:pPr>
            <a:r>
              <a:rPr sz="1600" b="0">
                <a:solidFill>
                  <a:srgbClr val="F4F4FA"/>
                </a:solidFill>
                <a:latin typeface="Segoe UI"/>
              </a:rPr>
              <a:t>Absorbs damage, expires</a:t>
            </a:r>
          </a:p>
        </p:txBody>
      </p:sp>
      <p:sp>
        <p:nvSpPr>
          <p:cNvPr id="12" name="Rounded Rectangle 11"/>
          <p:cNvSpPr/>
          <p:nvPr/>
        </p:nvSpPr>
        <p:spPr>
          <a:xfrm>
            <a:off x="8412480" y="1554480"/>
            <a:ext cx="3291840" cy="1280160"/>
          </a:xfrm>
          <a:prstGeom prst="roundRect">
            <a:avLst>
              <a:gd name="adj" fmla="val 8000"/>
            </a:avLst>
          </a:prstGeom>
          <a:solidFill>
            <a:srgbClr val="222745"/>
          </a:solidFill>
          <a:ln w="25400">
            <a:solidFill>
              <a:srgbClr val="4F9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59" y="1664207"/>
            <a:ext cx="2926080" cy="457200"/>
          </a:xfrm>
          <a:prstGeom prst="rect">
            <a:avLst/>
          </a:prstGeom>
          <a:noFill/>
        </p:spPr>
        <p:txBody>
          <a:bodyPr wrap="square" anchor="t">
            <a:spAutoFit/>
          </a:bodyPr>
          <a:lstStyle/>
          <a:p>
            <a:pPr algn="l">
              <a:spcAft>
                <a:spcPts val="600"/>
              </a:spcAft>
            </a:pPr>
            <a:r>
              <a:rPr sz="2200" b="1">
                <a:solidFill>
                  <a:srgbClr val="4F9DE8"/>
                </a:solidFill>
                <a:latin typeface="Segoe UI"/>
              </a:rPr>
              <a:t>Parry</a:t>
            </a:r>
          </a:p>
        </p:txBody>
      </p:sp>
      <p:sp>
        <p:nvSpPr>
          <p:cNvPr id="14" name="TextBox 13"/>
          <p:cNvSpPr txBox="1"/>
          <p:nvPr/>
        </p:nvSpPr>
        <p:spPr>
          <a:xfrm>
            <a:off x="8595359" y="2212848"/>
            <a:ext cx="2926080" cy="548640"/>
          </a:xfrm>
          <a:prstGeom prst="rect">
            <a:avLst/>
          </a:prstGeom>
          <a:noFill/>
        </p:spPr>
        <p:txBody>
          <a:bodyPr wrap="square" anchor="t">
            <a:spAutoFit/>
          </a:bodyPr>
          <a:lstStyle/>
          <a:p>
            <a:pPr algn="l">
              <a:spcAft>
                <a:spcPts val="600"/>
              </a:spcAft>
            </a:pPr>
            <a:r>
              <a:rPr sz="1600" b="0">
                <a:solidFill>
                  <a:srgbClr val="F4F4FA"/>
                </a:solidFill>
                <a:latin typeface="Segoe UI"/>
              </a:rPr>
              <a:t>Reduces each hit</a:t>
            </a:r>
          </a:p>
        </p:txBody>
      </p:sp>
      <p:sp>
        <p:nvSpPr>
          <p:cNvPr id="15" name="Rounded Rectangle 14"/>
          <p:cNvSpPr/>
          <p:nvPr/>
        </p:nvSpPr>
        <p:spPr>
          <a:xfrm>
            <a:off x="4937760" y="3017520"/>
            <a:ext cx="3291840" cy="1280160"/>
          </a:xfrm>
          <a:prstGeom prst="roundRect">
            <a:avLst>
              <a:gd name="adj" fmla="val 8000"/>
            </a:avLst>
          </a:prstGeom>
          <a:solidFill>
            <a:srgbClr val="222745"/>
          </a:solidFill>
          <a:ln w="25400">
            <a:solidFill>
              <a:srgbClr val="5F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3127248"/>
            <a:ext cx="2926080" cy="457200"/>
          </a:xfrm>
          <a:prstGeom prst="rect">
            <a:avLst/>
          </a:prstGeom>
          <a:noFill/>
        </p:spPr>
        <p:txBody>
          <a:bodyPr wrap="square" anchor="t">
            <a:spAutoFit/>
          </a:bodyPr>
          <a:lstStyle/>
          <a:p>
            <a:pPr algn="l">
              <a:spcAft>
                <a:spcPts val="600"/>
              </a:spcAft>
            </a:pPr>
            <a:r>
              <a:rPr sz="2200" b="1">
                <a:solidFill>
                  <a:srgbClr val="5FC48A"/>
                </a:solidFill>
                <a:latin typeface="Segoe UI"/>
              </a:rPr>
              <a:t>Poison</a:t>
            </a:r>
          </a:p>
        </p:txBody>
      </p:sp>
      <p:sp>
        <p:nvSpPr>
          <p:cNvPr id="17" name="TextBox 16"/>
          <p:cNvSpPr txBox="1"/>
          <p:nvPr/>
        </p:nvSpPr>
        <p:spPr>
          <a:xfrm>
            <a:off x="5120640" y="3675887"/>
            <a:ext cx="2926080" cy="548640"/>
          </a:xfrm>
          <a:prstGeom prst="rect">
            <a:avLst/>
          </a:prstGeom>
          <a:noFill/>
        </p:spPr>
        <p:txBody>
          <a:bodyPr wrap="square" anchor="t">
            <a:spAutoFit/>
          </a:bodyPr>
          <a:lstStyle/>
          <a:p>
            <a:pPr algn="l">
              <a:spcAft>
                <a:spcPts val="600"/>
              </a:spcAft>
            </a:pPr>
            <a:r>
              <a:rPr sz="1600" b="0">
                <a:solidFill>
                  <a:srgbClr val="F4F4FA"/>
                </a:solidFill>
                <a:latin typeface="Segoe UI"/>
              </a:rPr>
              <a:t>Ignores armor</a:t>
            </a:r>
          </a:p>
        </p:txBody>
      </p:sp>
      <p:sp>
        <p:nvSpPr>
          <p:cNvPr id="18" name="Rounded Rectangle 17"/>
          <p:cNvSpPr/>
          <p:nvPr/>
        </p:nvSpPr>
        <p:spPr>
          <a:xfrm>
            <a:off x="8412480" y="3017520"/>
            <a:ext cx="3291840" cy="1280160"/>
          </a:xfrm>
          <a:prstGeom prst="roundRect">
            <a:avLst>
              <a:gd name="adj" fmla="val 8000"/>
            </a:avLst>
          </a:prstGeom>
          <a:solidFill>
            <a:srgbClr val="222745"/>
          </a:solidFill>
          <a:ln w="25400">
            <a:solidFill>
              <a:srgbClr val="4F9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59" y="3127248"/>
            <a:ext cx="2926080" cy="457200"/>
          </a:xfrm>
          <a:prstGeom prst="rect">
            <a:avLst/>
          </a:prstGeom>
          <a:noFill/>
        </p:spPr>
        <p:txBody>
          <a:bodyPr wrap="square" anchor="t">
            <a:spAutoFit/>
          </a:bodyPr>
          <a:lstStyle/>
          <a:p>
            <a:pPr algn="l">
              <a:spcAft>
                <a:spcPts val="600"/>
              </a:spcAft>
            </a:pPr>
            <a:r>
              <a:rPr sz="2200" b="1">
                <a:solidFill>
                  <a:srgbClr val="4F9DE8"/>
                </a:solidFill>
                <a:latin typeface="Segoe UI"/>
              </a:rPr>
              <a:t>Freeze</a:t>
            </a:r>
          </a:p>
        </p:txBody>
      </p:sp>
      <p:sp>
        <p:nvSpPr>
          <p:cNvPr id="20" name="TextBox 19"/>
          <p:cNvSpPr txBox="1"/>
          <p:nvPr/>
        </p:nvSpPr>
        <p:spPr>
          <a:xfrm>
            <a:off x="8595359" y="3675887"/>
            <a:ext cx="2926080" cy="548640"/>
          </a:xfrm>
          <a:prstGeom prst="rect">
            <a:avLst/>
          </a:prstGeom>
          <a:noFill/>
        </p:spPr>
        <p:txBody>
          <a:bodyPr wrap="square" anchor="t">
            <a:spAutoFit/>
          </a:bodyPr>
          <a:lstStyle/>
          <a:p>
            <a:pPr algn="l">
              <a:spcAft>
                <a:spcPts val="600"/>
              </a:spcAft>
            </a:pPr>
            <a:r>
              <a:rPr sz="1600" b="0">
                <a:solidFill>
                  <a:srgbClr val="F4F4FA"/>
                </a:solidFill>
                <a:latin typeface="Segoe UI"/>
              </a:rPr>
              <a:t>Opponent loses 1 mana</a:t>
            </a:r>
          </a:p>
        </p:txBody>
      </p:sp>
      <p:sp>
        <p:nvSpPr>
          <p:cNvPr id="21" name="Rounded Rectangle 20"/>
          <p:cNvSpPr/>
          <p:nvPr/>
        </p:nvSpPr>
        <p:spPr>
          <a:xfrm>
            <a:off x="4937760" y="4480560"/>
            <a:ext cx="3291840" cy="1280160"/>
          </a:xfrm>
          <a:prstGeom prst="roundRect">
            <a:avLst>
              <a:gd name="adj" fmla="val 8000"/>
            </a:avLst>
          </a:prstGeom>
          <a:solidFill>
            <a:srgbClr val="222745"/>
          </a:solidFill>
          <a:ln w="25400">
            <a:solidFill>
              <a:srgbClr val="A7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4590288"/>
            <a:ext cx="2926080" cy="457200"/>
          </a:xfrm>
          <a:prstGeom prst="rect">
            <a:avLst/>
          </a:prstGeom>
          <a:noFill/>
        </p:spPr>
        <p:txBody>
          <a:bodyPr wrap="square" anchor="t">
            <a:spAutoFit/>
          </a:bodyPr>
          <a:lstStyle/>
          <a:p>
            <a:pPr algn="l">
              <a:spcAft>
                <a:spcPts val="600"/>
              </a:spcAft>
            </a:pPr>
            <a:r>
              <a:rPr sz="2200" b="1">
                <a:solidFill>
                  <a:srgbClr val="A77BE8"/>
                </a:solidFill>
                <a:latin typeface="Segoe UI"/>
              </a:rPr>
              <a:t>Evasion</a:t>
            </a:r>
          </a:p>
        </p:txBody>
      </p:sp>
      <p:sp>
        <p:nvSpPr>
          <p:cNvPr id="23" name="TextBox 22"/>
          <p:cNvSpPr txBox="1"/>
          <p:nvPr/>
        </p:nvSpPr>
        <p:spPr>
          <a:xfrm>
            <a:off x="5120640" y="5138928"/>
            <a:ext cx="2926080" cy="548640"/>
          </a:xfrm>
          <a:prstGeom prst="rect">
            <a:avLst/>
          </a:prstGeom>
          <a:noFill/>
        </p:spPr>
        <p:txBody>
          <a:bodyPr wrap="square" anchor="t">
            <a:spAutoFit/>
          </a:bodyPr>
          <a:lstStyle/>
          <a:p>
            <a:pPr algn="l">
              <a:spcAft>
                <a:spcPts val="600"/>
              </a:spcAft>
            </a:pPr>
            <a:r>
              <a:rPr sz="1600" b="0">
                <a:solidFill>
                  <a:srgbClr val="F4F4FA"/>
                </a:solidFill>
                <a:latin typeface="Segoe UI"/>
              </a:rPr>
              <a:t>Cancels the next hit</a:t>
            </a:r>
          </a:p>
        </p:txBody>
      </p:sp>
      <p:sp>
        <p:nvSpPr>
          <p:cNvPr id="24" name="Rounded Rectangle 23"/>
          <p:cNvSpPr/>
          <p:nvPr/>
        </p:nvSpPr>
        <p:spPr>
          <a:xfrm>
            <a:off x="8412480" y="4480560"/>
            <a:ext cx="3291840" cy="1280160"/>
          </a:xfrm>
          <a:prstGeom prst="roundRect">
            <a:avLst>
              <a:gd name="adj" fmla="val 8000"/>
            </a:avLst>
          </a:prstGeom>
          <a:solidFill>
            <a:srgbClr val="222745"/>
          </a:solidFill>
          <a:ln w="25400">
            <a:solidFill>
              <a:srgbClr val="E25D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59" y="4590288"/>
            <a:ext cx="2926080" cy="457200"/>
          </a:xfrm>
          <a:prstGeom prst="rect">
            <a:avLst/>
          </a:prstGeom>
          <a:noFill/>
        </p:spPr>
        <p:txBody>
          <a:bodyPr wrap="square" anchor="t">
            <a:spAutoFit/>
          </a:bodyPr>
          <a:lstStyle/>
          <a:p>
            <a:pPr algn="l">
              <a:spcAft>
                <a:spcPts val="600"/>
              </a:spcAft>
            </a:pPr>
            <a:r>
              <a:rPr sz="2200" b="1">
                <a:solidFill>
                  <a:srgbClr val="E25D5D"/>
                </a:solidFill>
                <a:latin typeface="Segoe UI"/>
              </a:rPr>
              <a:t>Taunt</a:t>
            </a:r>
          </a:p>
        </p:txBody>
      </p:sp>
      <p:sp>
        <p:nvSpPr>
          <p:cNvPr id="26" name="TextBox 25"/>
          <p:cNvSpPr txBox="1"/>
          <p:nvPr/>
        </p:nvSpPr>
        <p:spPr>
          <a:xfrm>
            <a:off x="8595359" y="5138928"/>
            <a:ext cx="2926080" cy="548640"/>
          </a:xfrm>
          <a:prstGeom prst="rect">
            <a:avLst/>
          </a:prstGeom>
          <a:noFill/>
        </p:spPr>
        <p:txBody>
          <a:bodyPr wrap="square" anchor="t">
            <a:spAutoFit/>
          </a:bodyPr>
          <a:lstStyle/>
          <a:p>
            <a:pPr algn="l">
              <a:spcAft>
                <a:spcPts val="600"/>
              </a:spcAft>
            </a:pPr>
            <a:r>
              <a:rPr sz="1600" b="0">
                <a:solidFill>
                  <a:srgbClr val="F4F4FA"/>
                </a:solidFill>
                <a:latin typeface="Segoe UI"/>
              </a:rPr>
              <a:t>Minions must hit it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The rules (4/4): classes and end of game</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6</a:t>
            </a:r>
          </a:p>
        </p:txBody>
      </p:sp>
      <p:sp>
        <p:nvSpPr>
          <p:cNvPr id="6" name="Rounded Rectangle 5"/>
          <p:cNvSpPr/>
          <p:nvPr/>
        </p:nvSpPr>
        <p:spPr>
          <a:xfrm>
            <a:off x="731520" y="1645920"/>
            <a:ext cx="2057400" cy="1737360"/>
          </a:xfrm>
          <a:prstGeom prst="roundRect">
            <a:avLst>
              <a:gd name="adj" fmla="val 8000"/>
            </a:avLst>
          </a:prstGeom>
          <a:solidFill>
            <a:srgbClr val="222745"/>
          </a:solidFill>
          <a:ln w="25400">
            <a:solidFill>
              <a:srgbClr val="4F9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2057400" cy="548640"/>
          </a:xfrm>
          <a:prstGeom prst="rect">
            <a:avLst/>
          </a:prstGeom>
          <a:noFill/>
        </p:spPr>
        <p:txBody>
          <a:bodyPr wrap="square" anchor="t">
            <a:spAutoFit/>
          </a:bodyPr>
          <a:lstStyle/>
          <a:p>
            <a:pPr algn="ctr">
              <a:spcAft>
                <a:spcPts val="600"/>
              </a:spcAft>
            </a:pPr>
            <a:r>
              <a:rPr sz="2400" b="1">
                <a:solidFill>
                  <a:srgbClr val="4F9DE8"/>
                </a:solidFill>
                <a:latin typeface="Segoe UI"/>
              </a:rPr>
              <a:t>Mage</a:t>
            </a:r>
          </a:p>
        </p:txBody>
      </p:sp>
      <p:sp>
        <p:nvSpPr>
          <p:cNvPr id="8" name="TextBox 7"/>
          <p:cNvSpPr txBox="1"/>
          <p:nvPr/>
        </p:nvSpPr>
        <p:spPr>
          <a:xfrm>
            <a:off x="822960" y="2514600"/>
            <a:ext cx="1874519" cy="731520"/>
          </a:xfrm>
          <a:prstGeom prst="rect">
            <a:avLst/>
          </a:prstGeom>
          <a:noFill/>
        </p:spPr>
        <p:txBody>
          <a:bodyPr wrap="square" anchor="t">
            <a:spAutoFit/>
          </a:bodyPr>
          <a:lstStyle/>
          <a:p>
            <a:pPr algn="ctr">
              <a:spcAft>
                <a:spcPts val="600"/>
              </a:spcAft>
            </a:pPr>
            <a:r>
              <a:rPr sz="1600" b="0">
                <a:solidFill>
                  <a:srgbClr val="F4F4FA"/>
                </a:solidFill>
                <a:latin typeface="Segoe UI"/>
              </a:rPr>
              <a:t>Big spells</a:t>
            </a:r>
          </a:p>
        </p:txBody>
      </p:sp>
      <p:sp>
        <p:nvSpPr>
          <p:cNvPr id="9" name="Rounded Rectangle 8"/>
          <p:cNvSpPr/>
          <p:nvPr/>
        </p:nvSpPr>
        <p:spPr>
          <a:xfrm>
            <a:off x="2926080" y="1645920"/>
            <a:ext cx="2057400" cy="1737360"/>
          </a:xfrm>
          <a:prstGeom prst="roundRect">
            <a:avLst>
              <a:gd name="adj" fmla="val 8000"/>
            </a:avLst>
          </a:prstGeom>
          <a:solidFill>
            <a:srgbClr val="222745"/>
          </a:solidFill>
          <a:ln w="25400">
            <a:solidFill>
              <a:srgbClr val="5F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828800"/>
            <a:ext cx="2057400" cy="548640"/>
          </a:xfrm>
          <a:prstGeom prst="rect">
            <a:avLst/>
          </a:prstGeom>
          <a:noFill/>
        </p:spPr>
        <p:txBody>
          <a:bodyPr wrap="square" anchor="t">
            <a:spAutoFit/>
          </a:bodyPr>
          <a:lstStyle/>
          <a:p>
            <a:pPr algn="ctr">
              <a:spcAft>
                <a:spcPts val="600"/>
              </a:spcAft>
            </a:pPr>
            <a:r>
              <a:rPr sz="2400" b="1">
                <a:solidFill>
                  <a:srgbClr val="5FC48A"/>
                </a:solidFill>
                <a:latin typeface="Segoe UI"/>
              </a:rPr>
              <a:t>Tank</a:t>
            </a:r>
          </a:p>
        </p:txBody>
      </p:sp>
      <p:sp>
        <p:nvSpPr>
          <p:cNvPr id="11" name="TextBox 10"/>
          <p:cNvSpPr txBox="1"/>
          <p:nvPr/>
        </p:nvSpPr>
        <p:spPr>
          <a:xfrm>
            <a:off x="3017520" y="2514600"/>
            <a:ext cx="1874519" cy="731520"/>
          </a:xfrm>
          <a:prstGeom prst="rect">
            <a:avLst/>
          </a:prstGeom>
          <a:noFill/>
        </p:spPr>
        <p:txBody>
          <a:bodyPr wrap="square" anchor="t">
            <a:spAutoFit/>
          </a:bodyPr>
          <a:lstStyle/>
          <a:p>
            <a:pPr algn="ctr">
              <a:spcAft>
                <a:spcPts val="600"/>
              </a:spcAft>
            </a:pPr>
            <a:r>
              <a:rPr sz="1600" b="0">
                <a:solidFill>
                  <a:srgbClr val="F4F4FA"/>
                </a:solidFill>
                <a:latin typeface="Segoe UI"/>
              </a:rPr>
              <a:t>Armor</a:t>
            </a:r>
          </a:p>
        </p:txBody>
      </p:sp>
      <p:sp>
        <p:nvSpPr>
          <p:cNvPr id="12" name="Rounded Rectangle 11"/>
          <p:cNvSpPr/>
          <p:nvPr/>
        </p:nvSpPr>
        <p:spPr>
          <a:xfrm>
            <a:off x="5120640" y="1645920"/>
            <a:ext cx="2057400" cy="1737360"/>
          </a:xfrm>
          <a:prstGeom prst="roundRect">
            <a:avLst>
              <a:gd name="adj" fmla="val 8000"/>
            </a:avLst>
          </a:prstGeom>
          <a:solidFill>
            <a:srgbClr val="222745"/>
          </a:solidFill>
          <a:ln w="25400">
            <a:solidFill>
              <a:srgbClr val="E25D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828800"/>
            <a:ext cx="2057400" cy="548640"/>
          </a:xfrm>
          <a:prstGeom prst="rect">
            <a:avLst/>
          </a:prstGeom>
          <a:noFill/>
        </p:spPr>
        <p:txBody>
          <a:bodyPr wrap="square" anchor="t">
            <a:spAutoFit/>
          </a:bodyPr>
          <a:lstStyle/>
          <a:p>
            <a:pPr algn="ctr">
              <a:spcAft>
                <a:spcPts val="600"/>
              </a:spcAft>
            </a:pPr>
            <a:r>
              <a:rPr sz="2400" b="1">
                <a:solidFill>
                  <a:srgbClr val="E25D5D"/>
                </a:solidFill>
                <a:latin typeface="Segoe UI"/>
              </a:rPr>
              <a:t>Swordsman</a:t>
            </a:r>
          </a:p>
        </p:txBody>
      </p:sp>
      <p:sp>
        <p:nvSpPr>
          <p:cNvPr id="14" name="TextBox 13"/>
          <p:cNvSpPr txBox="1"/>
          <p:nvPr/>
        </p:nvSpPr>
        <p:spPr>
          <a:xfrm>
            <a:off x="5212079" y="2514600"/>
            <a:ext cx="1874519" cy="731520"/>
          </a:xfrm>
          <a:prstGeom prst="rect">
            <a:avLst/>
          </a:prstGeom>
          <a:noFill/>
        </p:spPr>
        <p:txBody>
          <a:bodyPr wrap="square" anchor="t">
            <a:spAutoFit/>
          </a:bodyPr>
          <a:lstStyle/>
          <a:p>
            <a:pPr algn="ctr">
              <a:spcAft>
                <a:spcPts val="600"/>
              </a:spcAft>
            </a:pPr>
            <a:r>
              <a:rPr sz="1600" b="0">
                <a:solidFill>
                  <a:srgbClr val="F4F4FA"/>
                </a:solidFill>
                <a:latin typeface="Segoe UI"/>
              </a:rPr>
              <a:t>Multi-hit attacks</a:t>
            </a:r>
          </a:p>
        </p:txBody>
      </p:sp>
      <p:sp>
        <p:nvSpPr>
          <p:cNvPr id="15" name="Rounded Rectangle 14"/>
          <p:cNvSpPr/>
          <p:nvPr/>
        </p:nvSpPr>
        <p:spPr>
          <a:xfrm>
            <a:off x="7315200" y="1645920"/>
            <a:ext cx="2057400" cy="1737360"/>
          </a:xfrm>
          <a:prstGeom prst="roundRect">
            <a:avLst>
              <a:gd name="adj" fmla="val 8000"/>
            </a:avLst>
          </a:prstGeom>
          <a:solidFill>
            <a:srgbClr val="222745"/>
          </a:solidFill>
          <a:ln w="25400">
            <a:solidFill>
              <a:srgbClr val="A7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1828800"/>
            <a:ext cx="2057400" cy="548640"/>
          </a:xfrm>
          <a:prstGeom prst="rect">
            <a:avLst/>
          </a:prstGeom>
          <a:noFill/>
        </p:spPr>
        <p:txBody>
          <a:bodyPr wrap="square" anchor="t">
            <a:spAutoFit/>
          </a:bodyPr>
          <a:lstStyle/>
          <a:p>
            <a:pPr algn="ctr">
              <a:spcAft>
                <a:spcPts val="600"/>
              </a:spcAft>
            </a:pPr>
            <a:r>
              <a:rPr sz="2400" b="1">
                <a:solidFill>
                  <a:srgbClr val="A77BE8"/>
                </a:solidFill>
                <a:latin typeface="Segoe UI"/>
              </a:rPr>
              <a:t>Assassin</a:t>
            </a:r>
          </a:p>
        </p:txBody>
      </p:sp>
      <p:sp>
        <p:nvSpPr>
          <p:cNvPr id="17" name="TextBox 16"/>
          <p:cNvSpPr txBox="1"/>
          <p:nvPr/>
        </p:nvSpPr>
        <p:spPr>
          <a:xfrm>
            <a:off x="7406640" y="2514600"/>
            <a:ext cx="1874519" cy="731520"/>
          </a:xfrm>
          <a:prstGeom prst="rect">
            <a:avLst/>
          </a:prstGeom>
          <a:noFill/>
        </p:spPr>
        <p:txBody>
          <a:bodyPr wrap="square" anchor="t">
            <a:spAutoFit/>
          </a:bodyPr>
          <a:lstStyle/>
          <a:p>
            <a:pPr algn="ctr">
              <a:spcAft>
                <a:spcPts val="600"/>
              </a:spcAft>
            </a:pPr>
            <a:r>
              <a:rPr sz="1600" b="0">
                <a:solidFill>
                  <a:srgbClr val="F4F4FA"/>
                </a:solidFill>
                <a:latin typeface="Segoe UI"/>
              </a:rPr>
              <a:t>Poison and combos</a:t>
            </a:r>
          </a:p>
        </p:txBody>
      </p:sp>
      <p:sp>
        <p:nvSpPr>
          <p:cNvPr id="18" name="Rounded Rectangle 17"/>
          <p:cNvSpPr/>
          <p:nvPr/>
        </p:nvSpPr>
        <p:spPr>
          <a:xfrm>
            <a:off x="9509760" y="1645920"/>
            <a:ext cx="2057400" cy="1737360"/>
          </a:xfrm>
          <a:prstGeom prst="roundRect">
            <a:avLst>
              <a:gd name="adj" fmla="val 8000"/>
            </a:avLst>
          </a:prstGeom>
          <a:solidFill>
            <a:srgbClr val="222745"/>
          </a:solidFill>
          <a:ln w="25400">
            <a:solidFill>
              <a:srgbClr val="F2B7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0" y="1828800"/>
            <a:ext cx="2057400" cy="548640"/>
          </a:xfrm>
          <a:prstGeom prst="rect">
            <a:avLst/>
          </a:prstGeom>
          <a:noFill/>
        </p:spPr>
        <p:txBody>
          <a:bodyPr wrap="square" anchor="t">
            <a:spAutoFit/>
          </a:bodyPr>
          <a:lstStyle/>
          <a:p>
            <a:pPr algn="ctr">
              <a:spcAft>
                <a:spcPts val="600"/>
              </a:spcAft>
            </a:pPr>
            <a:r>
              <a:rPr sz="2400" b="1">
                <a:solidFill>
                  <a:srgbClr val="F2B734"/>
                </a:solidFill>
                <a:latin typeface="Segoe UI"/>
              </a:rPr>
              <a:t>Cleric</a:t>
            </a:r>
          </a:p>
        </p:txBody>
      </p:sp>
      <p:sp>
        <p:nvSpPr>
          <p:cNvPr id="20" name="TextBox 19"/>
          <p:cNvSpPr txBox="1"/>
          <p:nvPr/>
        </p:nvSpPr>
        <p:spPr>
          <a:xfrm>
            <a:off x="9601200" y="2514600"/>
            <a:ext cx="1874519" cy="731520"/>
          </a:xfrm>
          <a:prstGeom prst="rect">
            <a:avLst/>
          </a:prstGeom>
          <a:noFill/>
        </p:spPr>
        <p:txBody>
          <a:bodyPr wrap="square" anchor="t">
            <a:spAutoFit/>
          </a:bodyPr>
          <a:lstStyle/>
          <a:p>
            <a:pPr algn="ctr">
              <a:spcAft>
                <a:spcPts val="600"/>
              </a:spcAft>
            </a:pPr>
            <a:r>
              <a:rPr sz="1600" b="0">
                <a:solidFill>
                  <a:srgbClr val="F4F4FA"/>
                </a:solidFill>
                <a:latin typeface="Segoe UI"/>
              </a:rPr>
              <a:t>Healing</a:t>
            </a:r>
          </a:p>
        </p:txBody>
      </p:sp>
      <p:sp>
        <p:nvSpPr>
          <p:cNvPr id="21" name="TextBox 20"/>
          <p:cNvSpPr txBox="1"/>
          <p:nvPr/>
        </p:nvSpPr>
        <p:spPr>
          <a:xfrm>
            <a:off x="731520" y="3657600"/>
            <a:ext cx="10789920" cy="457200"/>
          </a:xfrm>
          <a:prstGeom prst="rect">
            <a:avLst/>
          </a:prstGeom>
          <a:noFill/>
        </p:spPr>
        <p:txBody>
          <a:bodyPr wrap="square" anchor="t">
            <a:spAutoFit/>
          </a:bodyPr>
          <a:lstStyle/>
          <a:p>
            <a:pPr algn="l">
              <a:spcAft>
                <a:spcPts val="600"/>
              </a:spcAft>
            </a:pPr>
            <a:r>
              <a:rPr sz="1800" b="0">
                <a:solidFill>
                  <a:srgbClr val="A9AECB"/>
                </a:solidFill>
                <a:latin typeface="Segoe UI"/>
              </a:rPr>
              <a:t>Intentional counters: poison goes through armor, area attacks sweep small minions.</a:t>
            </a:r>
          </a:p>
        </p:txBody>
      </p:sp>
      <p:sp>
        <p:nvSpPr>
          <p:cNvPr id="22" name="Rounded Rectangle 21"/>
          <p:cNvSpPr/>
          <p:nvPr/>
        </p:nvSpPr>
        <p:spPr>
          <a:xfrm>
            <a:off x="731520" y="4389120"/>
            <a:ext cx="10789920" cy="173736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480560"/>
            <a:ext cx="10241280" cy="457200"/>
          </a:xfrm>
          <a:prstGeom prst="rect">
            <a:avLst/>
          </a:prstGeom>
          <a:noFill/>
        </p:spPr>
        <p:txBody>
          <a:bodyPr wrap="square" anchor="t">
            <a:spAutoFit/>
          </a:bodyPr>
          <a:lstStyle/>
          <a:p>
            <a:pPr algn="l">
              <a:spcAft>
                <a:spcPts val="600"/>
              </a:spcAft>
            </a:pPr>
            <a:r>
              <a:rPr sz="2200" b="1">
                <a:solidFill>
                  <a:srgbClr val="F2B734"/>
                </a:solidFill>
                <a:latin typeface="Segoe UI"/>
              </a:rPr>
              <a:t>End of game</a:t>
            </a:r>
          </a:p>
        </p:txBody>
      </p:sp>
      <p:sp>
        <p:nvSpPr>
          <p:cNvPr id="24" name="TextBox 23"/>
          <p:cNvSpPr txBox="1"/>
          <p:nvPr/>
        </p:nvSpPr>
        <p:spPr>
          <a:xfrm>
            <a:off x="1005840" y="4983480"/>
            <a:ext cx="10241280" cy="1097280"/>
          </a:xfrm>
          <a:prstGeom prst="rect">
            <a:avLst/>
          </a:prstGeom>
          <a:noFill/>
        </p:spPr>
        <p:txBody>
          <a:bodyPr wrap="square" anchor="t">
            <a:spAutoFit/>
          </a:bodyPr>
          <a:lstStyle/>
          <a:p>
            <a:pPr algn="l">
              <a:spcAft>
                <a:spcPts val="600"/>
              </a:spcAft>
            </a:pPr>
            <a:r>
              <a:rPr sz="1800" b="0">
                <a:solidFill>
                  <a:srgbClr val="F4F4FA"/>
                </a:solidFill>
                <a:latin typeface="Segoe UI"/>
              </a:rPr>
              <a:t>•  Immediate win when the opponent reaches 0 HP.</a:t>
            </a:r>
          </a:p>
          <a:p>
            <a:pPr algn="l">
              <a:spcAft>
                <a:spcPts val="600"/>
              </a:spcAft>
            </a:pPr>
            <a:r>
              <a:rPr sz="1800" b="0">
                <a:solidFill>
                  <a:srgbClr val="F4F4FA"/>
                </a:solidFill>
                <a:latin typeface="Segoe UI"/>
              </a:rPr>
              <a:t>•  After 50 turns: higher HP wins, then higher total damage dealt, otherwise a draw.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The bots</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7</a:t>
            </a:r>
          </a:p>
        </p:txBody>
      </p:sp>
      <p:sp>
        <p:nvSpPr>
          <p:cNvPr id="6" name="Rounded Rectangle 5"/>
          <p:cNvSpPr/>
          <p:nvPr/>
        </p:nvSpPr>
        <p:spPr>
          <a:xfrm>
            <a:off x="731520" y="1645920"/>
            <a:ext cx="3474720" cy="274320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82296" cy="2468880"/>
          </a:xfrm>
          <a:prstGeom prst="rect">
            <a:avLst/>
          </a:prstGeom>
          <a:solidFill>
            <a:srgbClr val="E25D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83080"/>
            <a:ext cx="3017520" cy="548640"/>
          </a:xfrm>
          <a:prstGeom prst="rect">
            <a:avLst/>
          </a:prstGeom>
          <a:noFill/>
        </p:spPr>
        <p:txBody>
          <a:bodyPr wrap="square" anchor="t">
            <a:spAutoFit/>
          </a:bodyPr>
          <a:lstStyle/>
          <a:p>
            <a:pPr algn="l">
              <a:spcAft>
                <a:spcPts val="600"/>
              </a:spcAft>
            </a:pPr>
            <a:r>
              <a:rPr sz="2200" b="1">
                <a:solidFill>
                  <a:srgbClr val="E25D5D"/>
                </a:solidFill>
                <a:latin typeface="Segoe UI"/>
              </a:rPr>
              <a:t>Aggressive</a:t>
            </a:r>
          </a:p>
        </p:txBody>
      </p:sp>
      <p:sp>
        <p:nvSpPr>
          <p:cNvPr id="9" name="TextBox 8"/>
          <p:cNvSpPr txBox="1"/>
          <p:nvPr/>
        </p:nvSpPr>
        <p:spPr>
          <a:xfrm>
            <a:off x="1005840" y="2377440"/>
            <a:ext cx="3017520" cy="1920240"/>
          </a:xfrm>
          <a:prstGeom prst="rect">
            <a:avLst/>
          </a:prstGeom>
          <a:noFill/>
        </p:spPr>
        <p:txBody>
          <a:bodyPr wrap="square" anchor="t">
            <a:spAutoFit/>
          </a:bodyPr>
          <a:lstStyle/>
          <a:p>
            <a:pPr algn="l">
              <a:spcAft>
                <a:spcPts val="600"/>
              </a:spcAft>
            </a:pPr>
            <a:r>
              <a:rPr sz="1800" b="0">
                <a:solidFill>
                  <a:srgbClr val="F4F4FA"/>
                </a:solidFill>
                <a:latin typeface="Segoe UI"/>
              </a:rPr>
              <a:t>Cheap attack deck.</a:t>
            </a:r>
          </a:p>
          <a:p>
            <a:pPr algn="l">
              <a:spcAft>
                <a:spcPts val="600"/>
              </a:spcAft>
            </a:pPr>
            <a:r>
              <a:rPr sz="1800" b="0">
                <a:solidFill>
                  <a:srgbClr val="F4F4FA"/>
                </a:solidFill>
                <a:latin typeface="Segoe UI"/>
              </a:rPr>
              <a:t>Always plays its strongest affordable attack.</a:t>
            </a:r>
          </a:p>
        </p:txBody>
      </p:sp>
      <p:sp>
        <p:nvSpPr>
          <p:cNvPr id="10" name="Rounded Rectangle 9"/>
          <p:cNvSpPr/>
          <p:nvPr/>
        </p:nvSpPr>
        <p:spPr>
          <a:xfrm>
            <a:off x="4343400" y="1645920"/>
            <a:ext cx="3474720" cy="274320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783080"/>
            <a:ext cx="82296" cy="2468880"/>
          </a:xfrm>
          <a:prstGeom prst="rect">
            <a:avLst/>
          </a:prstGeom>
          <a:solidFill>
            <a:srgbClr val="4F9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783080"/>
            <a:ext cx="3017520" cy="548640"/>
          </a:xfrm>
          <a:prstGeom prst="rect">
            <a:avLst/>
          </a:prstGeom>
          <a:noFill/>
        </p:spPr>
        <p:txBody>
          <a:bodyPr wrap="square" anchor="t">
            <a:spAutoFit/>
          </a:bodyPr>
          <a:lstStyle/>
          <a:p>
            <a:pPr algn="l">
              <a:spcAft>
                <a:spcPts val="600"/>
              </a:spcAft>
            </a:pPr>
            <a:r>
              <a:rPr sz="2200" b="1">
                <a:solidFill>
                  <a:srgbClr val="4F9DE8"/>
                </a:solidFill>
                <a:latin typeface="Segoe UI"/>
              </a:rPr>
              <a:t>Defensive</a:t>
            </a:r>
          </a:p>
        </p:txBody>
      </p:sp>
      <p:sp>
        <p:nvSpPr>
          <p:cNvPr id="13" name="TextBox 12"/>
          <p:cNvSpPr txBox="1"/>
          <p:nvPr/>
        </p:nvSpPr>
        <p:spPr>
          <a:xfrm>
            <a:off x="4617720" y="2377440"/>
            <a:ext cx="3017520" cy="1920240"/>
          </a:xfrm>
          <a:prstGeom prst="rect">
            <a:avLst/>
          </a:prstGeom>
          <a:noFill/>
        </p:spPr>
        <p:txBody>
          <a:bodyPr wrap="square" anchor="t">
            <a:spAutoFit/>
          </a:bodyPr>
          <a:lstStyle/>
          <a:p>
            <a:pPr algn="l">
              <a:spcAft>
                <a:spcPts val="600"/>
              </a:spcAft>
            </a:pPr>
            <a:r>
              <a:rPr sz="1800" b="0">
                <a:solidFill>
                  <a:srgbClr val="F4F4FA"/>
                </a:solidFill>
                <a:latin typeface="Segoe UI"/>
              </a:rPr>
              <a:t>Plays like Aggressive while healthy.</a:t>
            </a:r>
          </a:p>
          <a:p>
            <a:pPr algn="l">
              <a:spcAft>
                <a:spcPts val="600"/>
              </a:spcAft>
            </a:pPr>
            <a:r>
              <a:rPr sz="1800" b="0">
                <a:solidFill>
                  <a:srgbClr val="F4F4FA"/>
                </a:solidFill>
                <a:latin typeface="Segoe UI"/>
              </a:rPr>
              <a:t>Below 15 HP: heal, Taunt, armor.</a:t>
            </a:r>
          </a:p>
        </p:txBody>
      </p:sp>
      <p:sp>
        <p:nvSpPr>
          <p:cNvPr id="14" name="Rounded Rectangle 13"/>
          <p:cNvSpPr/>
          <p:nvPr/>
        </p:nvSpPr>
        <p:spPr>
          <a:xfrm>
            <a:off x="7955279" y="1645920"/>
            <a:ext cx="3474720" cy="274320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1783080"/>
            <a:ext cx="82296" cy="2468880"/>
          </a:xfrm>
          <a:prstGeom prst="rect">
            <a:avLst/>
          </a:prstGeom>
          <a:solidFill>
            <a:srgbClr val="A9AE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783080"/>
            <a:ext cx="3017520" cy="548640"/>
          </a:xfrm>
          <a:prstGeom prst="rect">
            <a:avLst/>
          </a:prstGeom>
          <a:noFill/>
        </p:spPr>
        <p:txBody>
          <a:bodyPr wrap="square" anchor="t">
            <a:spAutoFit/>
          </a:bodyPr>
          <a:lstStyle/>
          <a:p>
            <a:pPr algn="l">
              <a:spcAft>
                <a:spcPts val="600"/>
              </a:spcAft>
            </a:pPr>
            <a:r>
              <a:rPr sz="2200" b="1">
                <a:solidFill>
                  <a:srgbClr val="A9AECB"/>
                </a:solidFill>
                <a:latin typeface="Segoe UI"/>
              </a:rPr>
              <a:t>Random</a:t>
            </a:r>
          </a:p>
        </p:txBody>
      </p:sp>
      <p:sp>
        <p:nvSpPr>
          <p:cNvPr id="17" name="TextBox 16"/>
          <p:cNvSpPr txBox="1"/>
          <p:nvPr/>
        </p:nvSpPr>
        <p:spPr>
          <a:xfrm>
            <a:off x="8229600" y="2377440"/>
            <a:ext cx="3017520" cy="1920240"/>
          </a:xfrm>
          <a:prstGeom prst="rect">
            <a:avLst/>
          </a:prstGeom>
          <a:noFill/>
        </p:spPr>
        <p:txBody>
          <a:bodyPr wrap="square" anchor="t">
            <a:spAutoFit/>
          </a:bodyPr>
          <a:lstStyle/>
          <a:p>
            <a:pPr algn="l">
              <a:spcAft>
                <a:spcPts val="600"/>
              </a:spcAft>
            </a:pPr>
            <a:r>
              <a:rPr sz="1800" b="0">
                <a:solidFill>
                  <a:srgbClr val="F4F4FA"/>
                </a:solidFill>
                <a:latin typeface="Segoe UI"/>
              </a:rPr>
              <a:t>Plays any legal card.</a:t>
            </a:r>
          </a:p>
          <a:p>
            <a:pPr algn="l">
              <a:spcAft>
                <a:spcPts val="600"/>
              </a:spcAft>
            </a:pPr>
            <a:r>
              <a:rPr sz="1800" b="0">
                <a:solidFill>
                  <a:srgbClr val="F4F4FA"/>
                </a:solidFill>
                <a:latin typeface="Segoe UI"/>
              </a:rPr>
              <a:t>The baseline.</a:t>
            </a:r>
          </a:p>
        </p:txBody>
      </p:sp>
      <p:sp>
        <p:nvSpPr>
          <p:cNvPr id="18" name="Rounded Rectangle 17"/>
          <p:cNvSpPr/>
          <p:nvPr/>
        </p:nvSpPr>
        <p:spPr>
          <a:xfrm>
            <a:off x="731520" y="4754880"/>
            <a:ext cx="10881360" cy="1371600"/>
          </a:xfrm>
          <a:prstGeom prst="roundRect">
            <a:avLst>
              <a:gd name="adj" fmla="val 8000"/>
            </a:avLst>
          </a:prstGeom>
          <a:solidFill>
            <a:srgbClr val="222745"/>
          </a:solidFill>
          <a:ln w="25400">
            <a:solidFill>
              <a:srgbClr val="F2B7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846320"/>
            <a:ext cx="3657600" cy="1188720"/>
          </a:xfrm>
          <a:prstGeom prst="rect">
            <a:avLst/>
          </a:prstGeom>
          <a:noFill/>
        </p:spPr>
        <p:txBody>
          <a:bodyPr wrap="square" anchor="ctr">
            <a:spAutoFit/>
          </a:bodyPr>
          <a:lstStyle/>
          <a:p>
            <a:pPr algn="l">
              <a:spcAft>
                <a:spcPts val="600"/>
              </a:spcAft>
            </a:pPr>
            <a:r>
              <a:rPr sz="4400" b="1">
                <a:solidFill>
                  <a:srgbClr val="F2B734"/>
                </a:solidFill>
                <a:latin typeface="Segoe UI"/>
              </a:rPr>
              <a:t>~9 / 10</a:t>
            </a:r>
          </a:p>
        </p:txBody>
      </p:sp>
      <p:sp>
        <p:nvSpPr>
          <p:cNvPr id="20" name="TextBox 19"/>
          <p:cNvSpPr txBox="1"/>
          <p:nvPr/>
        </p:nvSpPr>
        <p:spPr>
          <a:xfrm>
            <a:off x="3474720" y="4846320"/>
            <a:ext cx="2743200" cy="1188720"/>
          </a:xfrm>
          <a:prstGeom prst="rect">
            <a:avLst/>
          </a:prstGeom>
          <a:noFill/>
        </p:spPr>
        <p:txBody>
          <a:bodyPr wrap="square" anchor="ctr">
            <a:spAutoFit/>
          </a:bodyPr>
          <a:lstStyle/>
          <a:p>
            <a:pPr algn="l">
              <a:spcAft>
                <a:spcPts val="600"/>
              </a:spcAft>
            </a:pPr>
            <a:r>
              <a:rPr sz="1600" b="0">
                <a:solidFill>
                  <a:srgbClr val="F4F4FA"/>
                </a:solidFill>
                <a:latin typeface="Segoe UI"/>
              </a:rPr>
              <a:t>wins of the real bots vs Random</a:t>
            </a:r>
          </a:p>
        </p:txBody>
      </p:sp>
      <p:sp>
        <p:nvSpPr>
          <p:cNvPr id="21" name="TextBox 20"/>
          <p:cNvSpPr txBox="1"/>
          <p:nvPr/>
        </p:nvSpPr>
        <p:spPr>
          <a:xfrm>
            <a:off x="6400800" y="4846320"/>
            <a:ext cx="2011680" cy="1188720"/>
          </a:xfrm>
          <a:prstGeom prst="rect">
            <a:avLst/>
          </a:prstGeom>
          <a:noFill/>
        </p:spPr>
        <p:txBody>
          <a:bodyPr wrap="square" anchor="ctr">
            <a:spAutoFit/>
          </a:bodyPr>
          <a:lstStyle/>
          <a:p>
            <a:pPr algn="l">
              <a:spcAft>
                <a:spcPts val="600"/>
              </a:spcAft>
            </a:pPr>
            <a:r>
              <a:rPr sz="4400" b="1">
                <a:solidFill>
                  <a:srgbClr val="F2B734"/>
                </a:solidFill>
                <a:latin typeface="Segoe UI"/>
              </a:rPr>
              <a:t>46.7%</a:t>
            </a:r>
          </a:p>
        </p:txBody>
      </p:sp>
      <p:sp>
        <p:nvSpPr>
          <p:cNvPr id="22" name="TextBox 21"/>
          <p:cNvSpPr txBox="1"/>
          <p:nvPr/>
        </p:nvSpPr>
        <p:spPr>
          <a:xfrm>
            <a:off x="8686800" y="4846320"/>
            <a:ext cx="2834640" cy="1188720"/>
          </a:xfrm>
          <a:prstGeom prst="rect">
            <a:avLst/>
          </a:prstGeom>
          <a:noFill/>
        </p:spPr>
        <p:txBody>
          <a:bodyPr wrap="square" anchor="ctr">
            <a:spAutoFit/>
          </a:bodyPr>
          <a:lstStyle/>
          <a:p>
            <a:pPr algn="l">
              <a:spcAft>
                <a:spcPts val="600"/>
              </a:spcAft>
            </a:pPr>
            <a:r>
              <a:rPr sz="1600" b="0">
                <a:solidFill>
                  <a:srgbClr val="F4F4FA"/>
                </a:solidFill>
                <a:latin typeface="Segoe UI"/>
              </a:rPr>
              <a:t>Aggressive:Mage vs Defensive:Tank, 1000 matches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Architecture: four ideas</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8</a:t>
            </a:r>
          </a:p>
        </p:txBody>
      </p:sp>
      <p:sp>
        <p:nvSpPr>
          <p:cNvPr id="6" name="Rounded Rectangle 5"/>
          <p:cNvSpPr/>
          <p:nvPr/>
        </p:nvSpPr>
        <p:spPr>
          <a:xfrm>
            <a:off x="731520" y="1645920"/>
            <a:ext cx="5303520" cy="210312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82296" cy="1828799"/>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83080"/>
            <a:ext cx="4846320" cy="548640"/>
          </a:xfrm>
          <a:prstGeom prst="rect">
            <a:avLst/>
          </a:prstGeom>
          <a:noFill/>
        </p:spPr>
        <p:txBody>
          <a:bodyPr wrap="square" anchor="t">
            <a:spAutoFit/>
          </a:bodyPr>
          <a:lstStyle/>
          <a:p>
            <a:pPr algn="l">
              <a:spcAft>
                <a:spcPts val="600"/>
              </a:spcAft>
            </a:pPr>
            <a:r>
              <a:rPr sz="2200" b="1">
                <a:solidFill>
                  <a:srgbClr val="F2B734"/>
                </a:solidFill>
                <a:latin typeface="Segoe UI"/>
              </a:rPr>
              <a:t>Cards are data</a:t>
            </a:r>
          </a:p>
        </p:txBody>
      </p:sp>
      <p:sp>
        <p:nvSpPr>
          <p:cNvPr id="9" name="TextBox 8"/>
          <p:cNvSpPr txBox="1"/>
          <p:nvPr/>
        </p:nvSpPr>
        <p:spPr>
          <a:xfrm>
            <a:off x="1005840" y="2377440"/>
            <a:ext cx="4846320" cy="1280160"/>
          </a:xfrm>
          <a:prstGeom prst="rect">
            <a:avLst/>
          </a:prstGeom>
          <a:noFill/>
        </p:spPr>
        <p:txBody>
          <a:bodyPr wrap="square" anchor="t">
            <a:spAutoFit/>
          </a:bodyPr>
          <a:lstStyle/>
          <a:p>
            <a:pPr algn="l">
              <a:spcAft>
                <a:spcPts val="600"/>
              </a:spcAft>
            </a:pPr>
            <a:r>
              <a:rPr sz="1600" b="0">
                <a:solidFill>
                  <a:srgbClr val="F4F4FA"/>
                </a:solidFill>
                <a:latin typeface="Segoe UI"/>
              </a:rPr>
              <a:t>Frostbolt = DealDamage(3).andThen(Freeze())</a:t>
            </a:r>
          </a:p>
          <a:p>
            <a:pPr algn="l">
              <a:spcAft>
                <a:spcPts val="600"/>
              </a:spcAft>
            </a:pPr>
            <a:r>
              <a:rPr sz="1600" b="0">
                <a:solidFill>
                  <a:srgbClr val="F4F4FA"/>
                </a:solidFill>
                <a:latin typeface="Segoe UI"/>
              </a:rPr>
              <a:t>New card = new declaration (Open/Closed).</a:t>
            </a:r>
          </a:p>
        </p:txBody>
      </p:sp>
      <p:sp>
        <p:nvSpPr>
          <p:cNvPr id="10" name="Rounded Rectangle 9"/>
          <p:cNvSpPr/>
          <p:nvPr/>
        </p:nvSpPr>
        <p:spPr>
          <a:xfrm>
            <a:off x="6217920" y="1645920"/>
            <a:ext cx="5303520" cy="210312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83080"/>
            <a:ext cx="82296" cy="1828799"/>
          </a:xfrm>
          <a:prstGeom prst="rect">
            <a:avLst/>
          </a:prstGeom>
          <a:solidFill>
            <a:srgbClr val="4F9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83080"/>
            <a:ext cx="4846320" cy="548640"/>
          </a:xfrm>
          <a:prstGeom prst="rect">
            <a:avLst/>
          </a:prstGeom>
          <a:noFill/>
        </p:spPr>
        <p:txBody>
          <a:bodyPr wrap="square" anchor="t">
            <a:spAutoFit/>
          </a:bodyPr>
          <a:lstStyle/>
          <a:p>
            <a:pPr algn="l">
              <a:spcAft>
                <a:spcPts val="600"/>
              </a:spcAft>
            </a:pPr>
            <a:r>
              <a:rPr sz="2200" b="1">
                <a:solidFill>
                  <a:srgbClr val="4F9DE8"/>
                </a:solidFill>
                <a:latin typeface="Segoe UI"/>
              </a:rPr>
              <a:t>Events are the only output</a:t>
            </a:r>
          </a:p>
        </p:txBody>
      </p:sp>
      <p:sp>
        <p:nvSpPr>
          <p:cNvPr id="13" name="TextBox 12"/>
          <p:cNvSpPr txBox="1"/>
          <p:nvPr/>
        </p:nvSpPr>
        <p:spPr>
          <a:xfrm>
            <a:off x="6492240" y="2377440"/>
            <a:ext cx="4846320" cy="1280160"/>
          </a:xfrm>
          <a:prstGeom prst="rect">
            <a:avLst/>
          </a:prstGeom>
          <a:noFill/>
        </p:spPr>
        <p:txBody>
          <a:bodyPr wrap="square" anchor="t">
            <a:spAutoFit/>
          </a:bodyPr>
          <a:lstStyle/>
          <a:p>
            <a:pPr algn="l">
              <a:spcAft>
                <a:spcPts val="600"/>
              </a:spcAft>
            </a:pPr>
            <a:r>
              <a:rPr sz="1600" b="0">
                <a:solidFill>
                  <a:srgbClr val="F4F4FA"/>
                </a:solidFill>
                <a:latin typeface="Segoe UI"/>
              </a:rPr>
              <a:t>The engine never prints.</a:t>
            </a:r>
          </a:p>
          <a:p>
            <a:pPr algn="l">
              <a:spcAft>
                <a:spcPts val="600"/>
              </a:spcAft>
            </a:pPr>
            <a:r>
              <a:rPr sz="1600" b="0">
                <a:solidFill>
                  <a:srgbClr val="F4F4FA"/>
                </a:solidFill>
                <a:latin typeface="Segoe UI"/>
              </a:rPr>
              <a:t>Console log, stats and JSON export are listeners.</a:t>
            </a:r>
          </a:p>
        </p:txBody>
      </p:sp>
      <p:sp>
        <p:nvSpPr>
          <p:cNvPr id="14" name="Rounded Rectangle 13"/>
          <p:cNvSpPr/>
          <p:nvPr/>
        </p:nvSpPr>
        <p:spPr>
          <a:xfrm>
            <a:off x="731520" y="4023360"/>
            <a:ext cx="5303520" cy="210312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160520"/>
            <a:ext cx="82296" cy="1828799"/>
          </a:xfrm>
          <a:prstGeom prst="rect">
            <a:avLst/>
          </a:prstGeom>
          <a:solidFill>
            <a:srgbClr val="5FC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4846320" cy="548640"/>
          </a:xfrm>
          <a:prstGeom prst="rect">
            <a:avLst/>
          </a:prstGeom>
          <a:noFill/>
        </p:spPr>
        <p:txBody>
          <a:bodyPr wrap="square" anchor="t">
            <a:spAutoFit/>
          </a:bodyPr>
          <a:lstStyle/>
          <a:p>
            <a:pPr algn="l">
              <a:spcAft>
                <a:spcPts val="600"/>
              </a:spcAft>
            </a:pPr>
            <a:r>
              <a:rPr sz="2200" b="1">
                <a:solidFill>
                  <a:srgbClr val="5FC48A"/>
                </a:solidFill>
                <a:latin typeface="Segoe UI"/>
              </a:rPr>
              <a:t>Bots are pure strategies</a:t>
            </a:r>
          </a:p>
        </p:txBody>
      </p:sp>
      <p:sp>
        <p:nvSpPr>
          <p:cNvPr id="17" name="TextBox 16"/>
          <p:cNvSpPr txBox="1"/>
          <p:nvPr/>
        </p:nvSpPr>
        <p:spPr>
          <a:xfrm>
            <a:off x="1005840" y="4754880"/>
            <a:ext cx="4846320" cy="1280160"/>
          </a:xfrm>
          <a:prstGeom prst="rect">
            <a:avLst/>
          </a:prstGeom>
          <a:noFill/>
        </p:spPr>
        <p:txBody>
          <a:bodyPr wrap="square" anchor="t">
            <a:spAutoFit/>
          </a:bodyPr>
          <a:lstStyle/>
          <a:p>
            <a:pPr algn="l">
              <a:spcAft>
                <a:spcPts val="600"/>
              </a:spcAft>
            </a:pPr>
            <a:r>
              <a:rPr sz="1600" b="0">
                <a:solidFill>
                  <a:srgbClr val="F4F4FA"/>
                </a:solidFill>
                <a:latin typeface="Segoe UI"/>
              </a:rPr>
              <a:t>They only see a read-only GameView.</a:t>
            </a:r>
          </a:p>
          <a:p>
            <a:pPr algn="l">
              <a:spcAft>
                <a:spcPts val="600"/>
              </a:spcAft>
            </a:pPr>
            <a:r>
              <a:rPr sz="1600" b="0">
                <a:solidFill>
                  <a:srgbClr val="F4F4FA"/>
                </a:solidFill>
                <a:latin typeface="Segoe UI"/>
              </a:rPr>
              <a:t>They cannot cheat.</a:t>
            </a:r>
          </a:p>
        </p:txBody>
      </p:sp>
      <p:sp>
        <p:nvSpPr>
          <p:cNvPr id="18" name="Rounded Rectangle 17"/>
          <p:cNvSpPr/>
          <p:nvPr/>
        </p:nvSpPr>
        <p:spPr>
          <a:xfrm>
            <a:off x="6217920" y="4023360"/>
            <a:ext cx="5303520" cy="210312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160520"/>
            <a:ext cx="82296" cy="1828799"/>
          </a:xfrm>
          <a:prstGeom prst="rect">
            <a:avLst/>
          </a:prstGeom>
          <a:solidFill>
            <a:srgbClr val="A77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160520"/>
            <a:ext cx="4846320" cy="548640"/>
          </a:xfrm>
          <a:prstGeom prst="rect">
            <a:avLst/>
          </a:prstGeom>
          <a:noFill/>
        </p:spPr>
        <p:txBody>
          <a:bodyPr wrap="square" anchor="t">
            <a:spAutoFit/>
          </a:bodyPr>
          <a:lstStyle/>
          <a:p>
            <a:pPr algn="l">
              <a:spcAft>
                <a:spcPts val="600"/>
              </a:spcAft>
            </a:pPr>
            <a:r>
              <a:rPr sz="2200" b="1">
                <a:solidFill>
                  <a:srgbClr val="A77BE8"/>
                </a:solidFill>
                <a:latin typeface="Segoe UI"/>
              </a:rPr>
              <a:t>Seeded randomness</a:t>
            </a:r>
          </a:p>
        </p:txBody>
      </p:sp>
      <p:sp>
        <p:nvSpPr>
          <p:cNvPr id="21" name="TextBox 20"/>
          <p:cNvSpPr txBox="1"/>
          <p:nvPr/>
        </p:nvSpPr>
        <p:spPr>
          <a:xfrm>
            <a:off x="6492240" y="4754880"/>
            <a:ext cx="4846320" cy="1280160"/>
          </a:xfrm>
          <a:prstGeom prst="rect">
            <a:avLst/>
          </a:prstGeom>
          <a:noFill/>
        </p:spPr>
        <p:txBody>
          <a:bodyPr wrap="square" anchor="t">
            <a:spAutoFit/>
          </a:bodyPr>
          <a:lstStyle/>
          <a:p>
            <a:pPr algn="l">
              <a:spcAft>
                <a:spcPts val="600"/>
              </a:spcAft>
            </a:pPr>
            <a:r>
              <a:rPr sz="1600" b="0">
                <a:solidFill>
                  <a:srgbClr val="F4F4FA"/>
                </a:solidFill>
                <a:latin typeface="Segoe UI"/>
              </a:rPr>
              <a:t>One injected Random.</a:t>
            </a:r>
          </a:p>
          <a:p>
            <a:pPr algn="l">
              <a:spcAft>
                <a:spcPts val="600"/>
              </a:spcAft>
            </a:pPr>
            <a:r>
              <a:rPr sz="1600" b="0">
                <a:solidFill>
                  <a:srgbClr val="F4F4FA"/>
                </a:solidFill>
                <a:latin typeface="Segoe UI"/>
              </a:rPr>
              <a:t>Same seed = same match, replayable exactly.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Tools and technologies</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9</a:t>
            </a:r>
          </a:p>
        </p:txBody>
      </p:sp>
      <p:sp>
        <p:nvSpPr>
          <p:cNvPr id="6" name="TextBox 5"/>
          <p:cNvSpPr txBox="1"/>
          <p:nvPr/>
        </p:nvSpPr>
        <p:spPr>
          <a:xfrm>
            <a:off x="731520" y="1554480"/>
            <a:ext cx="5303520" cy="457200"/>
          </a:xfrm>
          <a:prstGeom prst="rect">
            <a:avLst/>
          </a:prstGeom>
          <a:noFill/>
        </p:spPr>
        <p:txBody>
          <a:bodyPr wrap="square" anchor="t">
            <a:spAutoFit/>
          </a:bodyPr>
          <a:lstStyle/>
          <a:p>
            <a:pPr algn="l">
              <a:spcAft>
                <a:spcPts val="600"/>
              </a:spcAft>
            </a:pPr>
            <a:r>
              <a:rPr sz="2400" b="1">
                <a:solidFill>
                  <a:srgbClr val="F2B734"/>
                </a:solidFill>
                <a:latin typeface="Segoe UI"/>
              </a:rPr>
              <a:t>Engine (back)</a:t>
            </a:r>
          </a:p>
        </p:txBody>
      </p:sp>
      <p:sp>
        <p:nvSpPr>
          <p:cNvPr id="7" name="TextBox 6"/>
          <p:cNvSpPr txBox="1"/>
          <p:nvPr/>
        </p:nvSpPr>
        <p:spPr>
          <a:xfrm>
            <a:off x="731520" y="2103120"/>
            <a:ext cx="5303520" cy="3200400"/>
          </a:xfrm>
          <a:prstGeom prst="rect">
            <a:avLst/>
          </a:prstGeom>
          <a:noFill/>
        </p:spPr>
        <p:txBody>
          <a:bodyPr wrap="square" anchor="t">
            <a:spAutoFit/>
          </a:bodyPr>
          <a:lstStyle/>
          <a:p>
            <a:pPr algn="l">
              <a:spcAft>
                <a:spcPts val="600"/>
              </a:spcAft>
            </a:pPr>
            <a:r>
              <a:rPr sz="2000" b="0">
                <a:solidFill>
                  <a:srgbClr val="F4F4FA"/>
                </a:solidFill>
                <a:latin typeface="Segoe UI"/>
              </a:rPr>
              <a:t>•  Java 21, no framework, no database</a:t>
            </a:r>
          </a:p>
          <a:p>
            <a:pPr algn="l">
              <a:spcAft>
                <a:spcPts val="600"/>
              </a:spcAft>
            </a:pPr>
            <a:r>
              <a:rPr sz="2000" b="0">
                <a:solidFill>
                  <a:srgbClr val="F4F4FA"/>
                </a:solidFill>
                <a:latin typeface="Segoe UI"/>
              </a:rPr>
              <a:t>•  Maven (build, exec:java to run)</a:t>
            </a:r>
          </a:p>
          <a:p>
            <a:pPr algn="l">
              <a:spcAft>
                <a:spcPts val="600"/>
              </a:spcAft>
            </a:pPr>
            <a:r>
              <a:rPr sz="2000" b="0">
                <a:solidFill>
                  <a:srgbClr val="F4F4FA"/>
                </a:solidFill>
                <a:latin typeface="Segoe UI"/>
              </a:rPr>
              <a:t>•  JUnit 5 + AssertJ, Given/When/Then</a:t>
            </a:r>
          </a:p>
          <a:p>
            <a:pPr algn="l">
              <a:spcAft>
                <a:spcPts val="600"/>
              </a:spcAft>
            </a:pPr>
            <a:r>
              <a:rPr sz="2000" b="0">
                <a:solidFill>
                  <a:srgbClr val="F4F4FA"/>
                </a:solidFill>
                <a:latin typeface="Segoe UI"/>
              </a:rPr>
              <a:t>•  No Mockito: small real objects</a:t>
            </a:r>
          </a:p>
        </p:txBody>
      </p:sp>
      <p:sp>
        <p:nvSpPr>
          <p:cNvPr id="8" name="TextBox 7"/>
          <p:cNvSpPr txBox="1"/>
          <p:nvPr/>
        </p:nvSpPr>
        <p:spPr>
          <a:xfrm>
            <a:off x="6309360" y="1554480"/>
            <a:ext cx="5303520" cy="457200"/>
          </a:xfrm>
          <a:prstGeom prst="rect">
            <a:avLst/>
          </a:prstGeom>
          <a:noFill/>
        </p:spPr>
        <p:txBody>
          <a:bodyPr wrap="square" anchor="t">
            <a:spAutoFit/>
          </a:bodyPr>
          <a:lstStyle/>
          <a:p>
            <a:pPr algn="l">
              <a:spcAft>
                <a:spcPts val="600"/>
              </a:spcAft>
            </a:pPr>
            <a:r>
              <a:rPr sz="2400" b="1">
                <a:solidFill>
                  <a:srgbClr val="4F9DE8"/>
                </a:solidFill>
                <a:latin typeface="Segoe UI"/>
              </a:rPr>
              <a:t>Replay (front)</a:t>
            </a:r>
          </a:p>
        </p:txBody>
      </p:sp>
      <p:sp>
        <p:nvSpPr>
          <p:cNvPr id="9" name="TextBox 8"/>
          <p:cNvSpPr txBox="1"/>
          <p:nvPr/>
        </p:nvSpPr>
        <p:spPr>
          <a:xfrm>
            <a:off x="6309360" y="2103120"/>
            <a:ext cx="5303520" cy="3200400"/>
          </a:xfrm>
          <a:prstGeom prst="rect">
            <a:avLst/>
          </a:prstGeom>
          <a:noFill/>
        </p:spPr>
        <p:txBody>
          <a:bodyPr wrap="square" anchor="t">
            <a:spAutoFit/>
          </a:bodyPr>
          <a:lstStyle/>
          <a:p>
            <a:pPr algn="l">
              <a:spcAft>
                <a:spcPts val="600"/>
              </a:spcAft>
            </a:pPr>
            <a:r>
              <a:rPr sz="2000" b="0">
                <a:solidFill>
                  <a:srgbClr val="F4F4FA"/>
                </a:solidFill>
                <a:latin typeface="Segoe UI"/>
              </a:rPr>
              <a:t>•  HTML, CSS, vanilla JavaScript</a:t>
            </a:r>
          </a:p>
          <a:p>
            <a:pPr algn="l">
              <a:spcAft>
                <a:spcPts val="600"/>
              </a:spcAft>
            </a:pPr>
            <a:r>
              <a:rPr sz="2000" b="0">
                <a:solidFill>
                  <a:srgbClr val="F4F4FA"/>
                </a:solidFill>
                <a:latin typeface="Segoe UI"/>
              </a:rPr>
              <a:t>•  Web Audio API: sound and music</a:t>
            </a:r>
          </a:p>
          <a:p>
            <a:pPr algn="l">
              <a:spcAft>
                <a:spcPts val="600"/>
              </a:spcAft>
            </a:pPr>
            <a:r>
              <a:rPr sz="2000" b="0">
                <a:solidFill>
                  <a:srgbClr val="F4F4FA"/>
                </a:solidFill>
                <a:latin typeface="Segoe UI"/>
              </a:rPr>
              <a:t>•  SVG / PNG assets, 3 design themes</a:t>
            </a:r>
          </a:p>
          <a:p>
            <a:pPr algn="l">
              <a:spcAft>
                <a:spcPts val="600"/>
              </a:spcAft>
            </a:pPr>
            <a:r>
              <a:rPr sz="2000" b="0">
                <a:solidFill>
                  <a:srgbClr val="F4F4FA"/>
                </a:solidFill>
                <a:latin typeface="Segoe UI"/>
              </a:rPr>
              <a:t>•  English / French switch</a:t>
            </a:r>
          </a:p>
          <a:p>
            <a:pPr algn="l">
              <a:spcAft>
                <a:spcPts val="600"/>
              </a:spcAft>
            </a:pPr>
            <a:r>
              <a:rPr sz="2000" b="0">
                <a:solidFill>
                  <a:srgbClr val="F4F4FA"/>
                </a:solidFill>
                <a:latin typeface="Segoe UI"/>
              </a:rPr>
              <a:t>•  JS tests run with Node</a:t>
            </a:r>
          </a:p>
        </p:txBody>
      </p:sp>
      <p:sp>
        <p:nvSpPr>
          <p:cNvPr id="10" name="Rounded Rectangle 9"/>
          <p:cNvSpPr/>
          <p:nvPr/>
        </p:nvSpPr>
        <p:spPr>
          <a:xfrm>
            <a:off x="731520" y="5120640"/>
            <a:ext cx="10881360" cy="1005840"/>
          </a:xfrm>
          <a:prstGeom prst="roundRect">
            <a:avLst>
              <a:gd name="adj" fmla="val 8000"/>
            </a:avLst>
          </a:prstGeom>
          <a:solidFill>
            <a:srgbClr val="222745"/>
          </a:solidFill>
          <a:ln w="25400">
            <a:solidFill>
              <a:srgbClr val="5F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120640"/>
            <a:ext cx="10332720" cy="1005840"/>
          </a:xfrm>
          <a:prstGeom prst="rect">
            <a:avLst/>
          </a:prstGeom>
          <a:noFill/>
        </p:spPr>
        <p:txBody>
          <a:bodyPr wrap="square" anchor="ctr">
            <a:spAutoFit/>
          </a:bodyPr>
          <a:lstStyle/>
          <a:p>
            <a:pPr algn="l">
              <a:spcAft>
                <a:spcPts val="600"/>
              </a:spcAft>
            </a:pPr>
            <a:r>
              <a:rPr sz="1800" b="0">
                <a:solidFill>
                  <a:srgbClr val="F4F4FA"/>
                </a:solidFill>
                <a:latin typeface="Segoe UI"/>
              </a:rPr>
              <a:t>Workflow: Git + AI pair programming, strict TDD (red, green, refactor). DESIGN.md is the source of truth.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Demo</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10</a:t>
            </a:r>
          </a:p>
        </p:txBody>
      </p:sp>
      <p:sp>
        <p:nvSpPr>
          <p:cNvPr id="6" name="Rounded Rectangle 5"/>
          <p:cNvSpPr/>
          <p:nvPr/>
        </p:nvSpPr>
        <p:spPr>
          <a:xfrm>
            <a:off x="731520" y="1645920"/>
            <a:ext cx="10881360" cy="1920240"/>
          </a:xfrm>
          <a:prstGeom prst="roundRect">
            <a:avLst>
              <a:gd name="adj" fmla="val 8000"/>
            </a:avLst>
          </a:prstGeom>
          <a:solidFill>
            <a:srgbClr val="0B0D1A"/>
          </a:solidFill>
          <a:ln w="25400">
            <a:solidFill>
              <a:srgbClr val="F2B7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332720" cy="1737360"/>
          </a:xfrm>
          <a:prstGeom prst="rect">
            <a:avLst/>
          </a:prstGeom>
          <a:noFill/>
        </p:spPr>
        <p:txBody>
          <a:bodyPr wrap="square" anchor="t">
            <a:spAutoFit/>
          </a:bodyPr>
          <a:lstStyle/>
          <a:p>
            <a:pPr algn="l">
              <a:spcAft>
                <a:spcPts val="600"/>
              </a:spcAft>
            </a:pPr>
            <a:r>
              <a:rPr sz="1800" b="0">
                <a:solidFill>
                  <a:srgbClr val="5FC48A"/>
                </a:solidFill>
                <a:latin typeface="Consolas"/>
              </a:rPr>
              <a:t>mvn -q compile exec:java -Dexec.args="--matches 1000 --p1 Aggressive:Mage --p2 Defensive:Tank --seed 42 --json partie.jsonl --stats-json stats.json"</a:t>
            </a:r>
          </a:p>
        </p:txBody>
      </p:sp>
      <p:sp>
        <p:nvSpPr>
          <p:cNvPr id="8" name="Rounded Rectangle 7"/>
          <p:cNvSpPr/>
          <p:nvPr/>
        </p:nvSpPr>
        <p:spPr>
          <a:xfrm>
            <a:off x="731520" y="4114800"/>
            <a:ext cx="3474720" cy="1463040"/>
          </a:xfrm>
          <a:prstGeom prst="roundRect">
            <a:avLst>
              <a:gd name="adj" fmla="val 8000"/>
            </a:avLst>
          </a:prstGeom>
          <a:solidFill>
            <a:srgbClr val="222745"/>
          </a:solidFill>
          <a:ln w="25400">
            <a:solidFill>
              <a:srgbClr val="4F9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60520"/>
            <a:ext cx="731520" cy="1371600"/>
          </a:xfrm>
          <a:prstGeom prst="rect">
            <a:avLst/>
          </a:prstGeom>
          <a:noFill/>
        </p:spPr>
        <p:txBody>
          <a:bodyPr wrap="square" anchor="ctr">
            <a:spAutoFit/>
          </a:bodyPr>
          <a:lstStyle/>
          <a:p>
            <a:pPr algn="l">
              <a:spcAft>
                <a:spcPts val="600"/>
              </a:spcAft>
            </a:pPr>
            <a:r>
              <a:rPr sz="4400" b="1">
                <a:solidFill>
                  <a:srgbClr val="4F9DE8"/>
                </a:solidFill>
                <a:latin typeface="Segoe UI"/>
              </a:rPr>
              <a:t>1</a:t>
            </a:r>
          </a:p>
        </p:txBody>
      </p:sp>
      <p:sp>
        <p:nvSpPr>
          <p:cNvPr id="10" name="TextBox 9"/>
          <p:cNvSpPr txBox="1"/>
          <p:nvPr/>
        </p:nvSpPr>
        <p:spPr>
          <a:xfrm>
            <a:off x="1645920" y="4160520"/>
            <a:ext cx="2468880" cy="1371600"/>
          </a:xfrm>
          <a:prstGeom prst="rect">
            <a:avLst/>
          </a:prstGeom>
          <a:noFill/>
        </p:spPr>
        <p:txBody>
          <a:bodyPr wrap="square" anchor="ctr">
            <a:spAutoFit/>
          </a:bodyPr>
          <a:lstStyle/>
          <a:p>
            <a:pPr algn="l">
              <a:spcAft>
                <a:spcPts val="600"/>
              </a:spcAft>
            </a:pPr>
            <a:r>
              <a:rPr sz="1800" b="0">
                <a:solidFill>
                  <a:srgbClr val="F4F4FA"/>
                </a:solidFill>
                <a:latin typeface="Segoe UI"/>
              </a:rPr>
              <a:t>Run the command</a:t>
            </a:r>
          </a:p>
        </p:txBody>
      </p:sp>
      <p:sp>
        <p:nvSpPr>
          <p:cNvPr id="11" name="Rounded Rectangle 10"/>
          <p:cNvSpPr/>
          <p:nvPr/>
        </p:nvSpPr>
        <p:spPr>
          <a:xfrm>
            <a:off x="4434840" y="4114800"/>
            <a:ext cx="3474720" cy="1463040"/>
          </a:xfrm>
          <a:prstGeom prst="roundRect">
            <a:avLst>
              <a:gd name="adj" fmla="val 8000"/>
            </a:avLst>
          </a:prstGeom>
          <a:solidFill>
            <a:srgbClr val="222745"/>
          </a:solidFill>
          <a:ln w="25400">
            <a:solidFill>
              <a:srgbClr val="5F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4160520"/>
            <a:ext cx="731520" cy="1371600"/>
          </a:xfrm>
          <a:prstGeom prst="rect">
            <a:avLst/>
          </a:prstGeom>
          <a:noFill/>
        </p:spPr>
        <p:txBody>
          <a:bodyPr wrap="square" anchor="ctr">
            <a:spAutoFit/>
          </a:bodyPr>
          <a:lstStyle/>
          <a:p>
            <a:pPr algn="l">
              <a:spcAft>
                <a:spcPts val="600"/>
              </a:spcAft>
            </a:pPr>
            <a:r>
              <a:rPr sz="4400" b="1">
                <a:solidFill>
                  <a:srgbClr val="5FC48A"/>
                </a:solidFill>
                <a:latin typeface="Segoe UI"/>
              </a:rPr>
              <a:t>2</a:t>
            </a:r>
          </a:p>
        </p:txBody>
      </p:sp>
      <p:sp>
        <p:nvSpPr>
          <p:cNvPr id="13" name="TextBox 12"/>
          <p:cNvSpPr txBox="1"/>
          <p:nvPr/>
        </p:nvSpPr>
        <p:spPr>
          <a:xfrm>
            <a:off x="5349240" y="4160520"/>
            <a:ext cx="2468880" cy="1371600"/>
          </a:xfrm>
          <a:prstGeom prst="rect">
            <a:avLst/>
          </a:prstGeom>
          <a:noFill/>
        </p:spPr>
        <p:txBody>
          <a:bodyPr wrap="square" anchor="ctr">
            <a:spAutoFit/>
          </a:bodyPr>
          <a:lstStyle/>
          <a:p>
            <a:pPr algn="l">
              <a:spcAft>
                <a:spcPts val="600"/>
              </a:spcAft>
            </a:pPr>
            <a:r>
              <a:rPr sz="1800" b="0">
                <a:solidFill>
                  <a:srgbClr val="F4F4FA"/>
                </a:solidFill>
                <a:latin typeface="Segoe UI"/>
              </a:rPr>
              <a:t>Open web/index.html</a:t>
            </a:r>
          </a:p>
        </p:txBody>
      </p:sp>
      <p:sp>
        <p:nvSpPr>
          <p:cNvPr id="14" name="Rounded Rectangle 13"/>
          <p:cNvSpPr/>
          <p:nvPr/>
        </p:nvSpPr>
        <p:spPr>
          <a:xfrm>
            <a:off x="8138159" y="4114800"/>
            <a:ext cx="3474720" cy="1463040"/>
          </a:xfrm>
          <a:prstGeom prst="roundRect">
            <a:avLst>
              <a:gd name="adj" fmla="val 8000"/>
            </a:avLst>
          </a:prstGeom>
          <a:solidFill>
            <a:srgbClr val="222745"/>
          </a:solidFill>
          <a:ln w="25400">
            <a:solidFill>
              <a:srgbClr val="F2B7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39" y="4160520"/>
            <a:ext cx="731520" cy="1371600"/>
          </a:xfrm>
          <a:prstGeom prst="rect">
            <a:avLst/>
          </a:prstGeom>
          <a:noFill/>
        </p:spPr>
        <p:txBody>
          <a:bodyPr wrap="square" anchor="ctr">
            <a:spAutoFit/>
          </a:bodyPr>
          <a:lstStyle/>
          <a:p>
            <a:pPr algn="l">
              <a:spcAft>
                <a:spcPts val="600"/>
              </a:spcAft>
            </a:pPr>
            <a:r>
              <a:rPr sz="4400" b="1">
                <a:solidFill>
                  <a:srgbClr val="F2B734"/>
                </a:solidFill>
                <a:latin typeface="Segoe UI"/>
              </a:rPr>
              <a:t>3</a:t>
            </a:r>
          </a:p>
        </p:txBody>
      </p:sp>
      <p:sp>
        <p:nvSpPr>
          <p:cNvPr id="16" name="TextBox 15"/>
          <p:cNvSpPr txBox="1"/>
          <p:nvPr/>
        </p:nvSpPr>
        <p:spPr>
          <a:xfrm>
            <a:off x="9052559" y="4160520"/>
            <a:ext cx="2468880" cy="1371600"/>
          </a:xfrm>
          <a:prstGeom prst="rect">
            <a:avLst/>
          </a:prstGeom>
          <a:noFill/>
        </p:spPr>
        <p:txBody>
          <a:bodyPr wrap="square" anchor="ctr">
            <a:spAutoFit/>
          </a:bodyPr>
          <a:lstStyle/>
          <a:p>
            <a:pPr algn="l">
              <a:spcAft>
                <a:spcPts val="600"/>
              </a:spcAft>
            </a:pPr>
            <a:r>
              <a:rPr sz="1800" b="0">
                <a:solidFill>
                  <a:srgbClr val="F4F4FA"/>
                </a:solidFill>
                <a:latin typeface="Segoe UI"/>
              </a:rPr>
              <a:t>Drop the files, press play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72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515600" cy="822960"/>
          </a:xfrm>
          <a:prstGeom prst="rect">
            <a:avLst/>
          </a:prstGeom>
          <a:noFill/>
        </p:spPr>
        <p:txBody>
          <a:bodyPr wrap="square" anchor="t">
            <a:spAutoFit/>
          </a:bodyPr>
          <a:lstStyle/>
          <a:p>
            <a:pPr algn="l">
              <a:spcAft>
                <a:spcPts val="600"/>
              </a:spcAft>
            </a:pPr>
            <a:r>
              <a:rPr sz="3800" b="1">
                <a:solidFill>
                  <a:srgbClr val="F4F4FA"/>
                </a:solidFill>
                <a:latin typeface="Segoe UI"/>
              </a:rPr>
              <a:t>Conclusion</a:t>
            </a:r>
          </a:p>
        </p:txBody>
      </p:sp>
      <p:sp>
        <p:nvSpPr>
          <p:cNvPr id="4" name="Rectangle 3"/>
          <p:cNvSpPr/>
          <p:nvPr/>
        </p:nvSpPr>
        <p:spPr>
          <a:xfrm>
            <a:off x="685800" y="1143000"/>
            <a:ext cx="1463040" cy="54864"/>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914400" cy="365760"/>
          </a:xfrm>
          <a:prstGeom prst="rect">
            <a:avLst/>
          </a:prstGeom>
          <a:noFill/>
        </p:spPr>
        <p:txBody>
          <a:bodyPr wrap="square" anchor="t">
            <a:spAutoFit/>
          </a:bodyPr>
          <a:lstStyle/>
          <a:p>
            <a:pPr algn="r">
              <a:spcAft>
                <a:spcPts val="600"/>
              </a:spcAft>
            </a:pPr>
            <a:r>
              <a:rPr sz="1200" b="0">
                <a:solidFill>
                  <a:srgbClr val="A9AECB"/>
                </a:solidFill>
                <a:latin typeface="Segoe UI"/>
              </a:rPr>
              <a:t>11</a:t>
            </a:r>
          </a:p>
        </p:txBody>
      </p:sp>
      <p:sp>
        <p:nvSpPr>
          <p:cNvPr id="6" name="Rounded Rectangle 5"/>
          <p:cNvSpPr/>
          <p:nvPr/>
        </p:nvSpPr>
        <p:spPr>
          <a:xfrm>
            <a:off x="731520" y="1645920"/>
            <a:ext cx="5303520" cy="164592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82296" cy="1371600"/>
          </a:xfrm>
          <a:prstGeom prst="rect">
            <a:avLst/>
          </a:prstGeom>
          <a:solidFill>
            <a:srgbClr val="4F9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83080"/>
            <a:ext cx="4846320" cy="548640"/>
          </a:xfrm>
          <a:prstGeom prst="rect">
            <a:avLst/>
          </a:prstGeom>
          <a:noFill/>
        </p:spPr>
        <p:txBody>
          <a:bodyPr wrap="square" anchor="t">
            <a:spAutoFit/>
          </a:bodyPr>
          <a:lstStyle/>
          <a:p>
            <a:pPr algn="l">
              <a:spcAft>
                <a:spcPts val="600"/>
              </a:spcAft>
            </a:pPr>
            <a:r>
              <a:rPr sz="2200" b="1">
                <a:solidFill>
                  <a:srgbClr val="4F9DE8"/>
                </a:solidFill>
                <a:latin typeface="Segoe UI"/>
              </a:rPr>
              <a:t>Tested engine</a:t>
            </a:r>
          </a:p>
        </p:txBody>
      </p:sp>
      <p:sp>
        <p:nvSpPr>
          <p:cNvPr id="9" name="TextBox 8"/>
          <p:cNvSpPr txBox="1"/>
          <p:nvPr/>
        </p:nvSpPr>
        <p:spPr>
          <a:xfrm>
            <a:off x="1005840" y="2377440"/>
            <a:ext cx="4846320" cy="822960"/>
          </a:xfrm>
          <a:prstGeom prst="rect">
            <a:avLst/>
          </a:prstGeom>
          <a:noFill/>
        </p:spPr>
        <p:txBody>
          <a:bodyPr wrap="square" anchor="t">
            <a:spAutoFit/>
          </a:bodyPr>
          <a:lstStyle/>
          <a:p>
            <a:pPr algn="l">
              <a:spcAft>
                <a:spcPts val="600"/>
              </a:spcAft>
            </a:pPr>
            <a:r>
              <a:rPr sz="1800" b="0">
                <a:solidFill>
                  <a:srgbClr val="F4F4FA"/>
                </a:solidFill>
                <a:latin typeface="Segoe UI"/>
              </a:rPr>
              <a:t>Deterministic, strict TDD</a:t>
            </a:r>
          </a:p>
        </p:txBody>
      </p:sp>
      <p:sp>
        <p:nvSpPr>
          <p:cNvPr id="10" name="Rounded Rectangle 9"/>
          <p:cNvSpPr/>
          <p:nvPr/>
        </p:nvSpPr>
        <p:spPr>
          <a:xfrm>
            <a:off x="6217920" y="1645920"/>
            <a:ext cx="5303520" cy="164592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83080"/>
            <a:ext cx="82296" cy="1371600"/>
          </a:xfrm>
          <a:prstGeom prst="rect">
            <a:avLst/>
          </a:prstGeom>
          <a:solidFill>
            <a:srgbClr val="5FC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83080"/>
            <a:ext cx="4846320" cy="548640"/>
          </a:xfrm>
          <a:prstGeom prst="rect">
            <a:avLst/>
          </a:prstGeom>
          <a:noFill/>
        </p:spPr>
        <p:txBody>
          <a:bodyPr wrap="square" anchor="t">
            <a:spAutoFit/>
          </a:bodyPr>
          <a:lstStyle/>
          <a:p>
            <a:pPr algn="l">
              <a:spcAft>
                <a:spcPts val="600"/>
              </a:spcAft>
            </a:pPr>
            <a:r>
              <a:rPr sz="2200" b="1">
                <a:solidFill>
                  <a:srgbClr val="5FC48A"/>
                </a:solidFill>
                <a:latin typeface="Segoe UI"/>
              </a:rPr>
              <a:t>Readable events</a:t>
            </a:r>
          </a:p>
        </p:txBody>
      </p:sp>
      <p:sp>
        <p:nvSpPr>
          <p:cNvPr id="13" name="TextBox 12"/>
          <p:cNvSpPr txBox="1"/>
          <p:nvPr/>
        </p:nvSpPr>
        <p:spPr>
          <a:xfrm>
            <a:off x="6492240" y="2377440"/>
            <a:ext cx="4846320" cy="822960"/>
          </a:xfrm>
          <a:prstGeom prst="rect">
            <a:avLst/>
          </a:prstGeom>
          <a:noFill/>
        </p:spPr>
        <p:txBody>
          <a:bodyPr wrap="square" anchor="t">
            <a:spAutoFit/>
          </a:bodyPr>
          <a:lstStyle/>
          <a:p>
            <a:pPr algn="l">
              <a:spcAft>
                <a:spcPts val="600"/>
              </a:spcAft>
            </a:pPr>
            <a:r>
              <a:rPr sz="1800" b="0">
                <a:solidFill>
                  <a:srgbClr val="F4F4FA"/>
                </a:solidFill>
                <a:latin typeface="Segoe UI"/>
              </a:rPr>
              <a:t>One source for log, stats, JSON</a:t>
            </a:r>
          </a:p>
        </p:txBody>
      </p:sp>
      <p:sp>
        <p:nvSpPr>
          <p:cNvPr id="14" name="Rounded Rectangle 13"/>
          <p:cNvSpPr/>
          <p:nvPr/>
        </p:nvSpPr>
        <p:spPr>
          <a:xfrm>
            <a:off x="731520" y="3474720"/>
            <a:ext cx="5303520" cy="164592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611879"/>
            <a:ext cx="82296" cy="1371600"/>
          </a:xfrm>
          <a:prstGeom prst="rect">
            <a:avLst/>
          </a:prstGeom>
          <a:solidFill>
            <a:srgbClr val="F2B7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11879"/>
            <a:ext cx="4846320" cy="548640"/>
          </a:xfrm>
          <a:prstGeom prst="rect">
            <a:avLst/>
          </a:prstGeom>
          <a:noFill/>
        </p:spPr>
        <p:txBody>
          <a:bodyPr wrap="square" anchor="t">
            <a:spAutoFit/>
          </a:bodyPr>
          <a:lstStyle/>
          <a:p>
            <a:pPr algn="l">
              <a:spcAft>
                <a:spcPts val="600"/>
              </a:spcAft>
            </a:pPr>
            <a:r>
              <a:rPr sz="2200" b="1">
                <a:solidFill>
                  <a:srgbClr val="F2B734"/>
                </a:solidFill>
                <a:latin typeface="Segoe UI"/>
              </a:rPr>
              <a:t>Balanced bots</a:t>
            </a:r>
          </a:p>
        </p:txBody>
      </p:sp>
      <p:sp>
        <p:nvSpPr>
          <p:cNvPr id="17" name="TextBox 16"/>
          <p:cNvSpPr txBox="1"/>
          <p:nvPr/>
        </p:nvSpPr>
        <p:spPr>
          <a:xfrm>
            <a:off x="1005840" y="4206240"/>
            <a:ext cx="4846320" cy="822960"/>
          </a:xfrm>
          <a:prstGeom prst="rect">
            <a:avLst/>
          </a:prstGeom>
          <a:noFill/>
        </p:spPr>
        <p:txBody>
          <a:bodyPr wrap="square" anchor="t">
            <a:spAutoFit/>
          </a:bodyPr>
          <a:lstStyle/>
          <a:p>
            <a:pPr algn="l">
              <a:spcAft>
                <a:spcPts val="600"/>
              </a:spcAft>
            </a:pPr>
            <a:r>
              <a:rPr sz="1800" b="0">
                <a:solidFill>
                  <a:srgbClr val="F4F4FA"/>
                </a:solidFill>
                <a:latin typeface="Segoe UI"/>
              </a:rPr>
              <a:t>Checked over 1000 matches</a:t>
            </a:r>
          </a:p>
        </p:txBody>
      </p:sp>
      <p:sp>
        <p:nvSpPr>
          <p:cNvPr id="18" name="Rounded Rectangle 17"/>
          <p:cNvSpPr/>
          <p:nvPr/>
        </p:nvSpPr>
        <p:spPr>
          <a:xfrm>
            <a:off x="6217920" y="3474720"/>
            <a:ext cx="5303520" cy="1645920"/>
          </a:xfrm>
          <a:prstGeom prst="roundRect">
            <a:avLst>
              <a:gd name="adj" fmla="val 8000"/>
            </a:avLst>
          </a:prstGeom>
          <a:solidFill>
            <a:srgbClr val="222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611879"/>
            <a:ext cx="82296" cy="1371600"/>
          </a:xfrm>
          <a:prstGeom prst="rect">
            <a:avLst/>
          </a:prstGeom>
          <a:solidFill>
            <a:srgbClr val="A77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611879"/>
            <a:ext cx="4846320" cy="548640"/>
          </a:xfrm>
          <a:prstGeom prst="rect">
            <a:avLst/>
          </a:prstGeom>
          <a:noFill/>
        </p:spPr>
        <p:txBody>
          <a:bodyPr wrap="square" anchor="t">
            <a:spAutoFit/>
          </a:bodyPr>
          <a:lstStyle/>
          <a:p>
            <a:pPr algn="l">
              <a:spcAft>
                <a:spcPts val="600"/>
              </a:spcAft>
            </a:pPr>
            <a:r>
              <a:rPr sz="2200" b="1">
                <a:solidFill>
                  <a:srgbClr val="A77BE8"/>
                </a:solidFill>
                <a:latin typeface="Segoe UI"/>
              </a:rPr>
              <a:t>Visual replay</a:t>
            </a:r>
          </a:p>
        </p:txBody>
      </p:sp>
      <p:sp>
        <p:nvSpPr>
          <p:cNvPr id="21" name="TextBox 20"/>
          <p:cNvSpPr txBox="1"/>
          <p:nvPr/>
        </p:nvSpPr>
        <p:spPr>
          <a:xfrm>
            <a:off x="6492240" y="4206240"/>
            <a:ext cx="4846320" cy="822960"/>
          </a:xfrm>
          <a:prstGeom prst="rect">
            <a:avLst/>
          </a:prstGeom>
          <a:noFill/>
        </p:spPr>
        <p:txBody>
          <a:bodyPr wrap="square" anchor="t">
            <a:spAutoFit/>
          </a:bodyPr>
          <a:lstStyle/>
          <a:p>
            <a:pPr algn="l">
              <a:spcAft>
                <a:spcPts val="600"/>
              </a:spcAft>
            </a:pPr>
            <a:r>
              <a:rPr sz="1800" b="0">
                <a:solidFill>
                  <a:srgbClr val="F4F4FA"/>
                </a:solidFill>
                <a:latin typeface="Segoe UI"/>
              </a:rPr>
              <a:t>Board, charts, sound, EN/FR</a:t>
            </a:r>
          </a:p>
        </p:txBody>
      </p:sp>
      <p:sp>
        <p:nvSpPr>
          <p:cNvPr id="22" name="TextBox 21"/>
          <p:cNvSpPr txBox="1"/>
          <p:nvPr/>
        </p:nvSpPr>
        <p:spPr>
          <a:xfrm>
            <a:off x="731520" y="5394960"/>
            <a:ext cx="10789920" cy="548640"/>
          </a:xfrm>
          <a:prstGeom prst="rect">
            <a:avLst/>
          </a:prstGeom>
          <a:noFill/>
        </p:spPr>
        <p:txBody>
          <a:bodyPr wrap="square" anchor="t">
            <a:spAutoFit/>
          </a:bodyPr>
          <a:lstStyle/>
          <a:p>
            <a:pPr algn="l">
              <a:spcAft>
                <a:spcPts val="600"/>
              </a:spcAft>
            </a:pPr>
            <a:r>
              <a:rPr sz="2200" b="0">
                <a:solidFill>
                  <a:srgbClr val="A9AECB"/>
                </a:solidFill>
                <a:latin typeface="Segoe UI"/>
              </a:rPr>
              <a:t>Next: smarter bots, more cards.</a:t>
            </a:r>
          </a:p>
        </p:txBody>
      </p:sp>
      <p:sp>
        <p:nvSpPr>
          <p:cNvPr id="23" name="TextBox 22"/>
          <p:cNvSpPr txBox="1"/>
          <p:nvPr/>
        </p:nvSpPr>
        <p:spPr>
          <a:xfrm>
            <a:off x="731520" y="5943600"/>
            <a:ext cx="10789920" cy="640080"/>
          </a:xfrm>
          <a:prstGeom prst="rect">
            <a:avLst/>
          </a:prstGeom>
          <a:noFill/>
        </p:spPr>
        <p:txBody>
          <a:bodyPr wrap="square" anchor="t">
            <a:spAutoFit/>
          </a:bodyPr>
          <a:lstStyle/>
          <a:p>
            <a:pPr algn="l">
              <a:spcAft>
                <a:spcPts val="600"/>
              </a:spcAft>
            </a:pPr>
            <a:r>
              <a:rPr sz="3000" b="1">
                <a:solidFill>
                  <a:srgbClr val="F2B734"/>
                </a:solidFill>
                <a:latin typeface="Segoe UI"/>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